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0.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18.xml.rels" ContentType="application/vnd.openxmlformats-package.relationships+xml"/>
  <Override PartName="/ppt/slides/_rels/slide4.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_rels/presentation.xml.rels" ContentType="application/vnd.openxmlformats-package.relationships+xml"/>
  <Override PartName="/ppt/media/image13.png" ContentType="image/png"/>
  <Override PartName="/ppt/media/image4.png" ContentType="image/png"/>
  <Override PartName="/ppt/media/image14.png" ContentType="image/png"/>
  <Override PartName="/ppt/media/image5.png" ContentType="image/png"/>
  <Override PartName="/ppt/media/image15.png" ContentType="image/png"/>
  <Override PartName="/ppt/media/image6.png" ContentType="image/png"/>
  <Override PartName="/ppt/media/image10.png" ContentType="image/png"/>
  <Override PartName="/ppt/media/image1.png" ContentType="image/png"/>
  <Override PartName="/ppt/media/image7.png" ContentType="image/png"/>
  <Override PartName="/ppt/media/image11.png" ContentType="image/png"/>
  <Override PartName="/ppt/media/image2.png" ContentType="image/png"/>
  <Override PartName="/ppt/media/image8.png" ContentType="image/png"/>
  <Override PartName="/ppt/media/image12.png" ContentType="image/png"/>
  <Override PartName="/ppt/media/image3.png" ContentType="image/pn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CA5B8655-2220-4C6C-819D-799A4CCFF5A4}"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925AFB3E-E819-42ED-A75A-9C6B84E2EAED}"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667FAD46-88FD-45B2-BED8-7CC14DB713B9}"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 name="PlaceHolder 2"/>
          <p:cNvSpPr>
            <a:spLocks noGrp="1"/>
          </p:cNvSpPr>
          <p:nvPr>
            <p:ph/>
          </p:nvPr>
        </p:nvSpPr>
        <p:spPr>
          <a:xfrm>
            <a:off x="914400" y="2406960"/>
            <a:ext cx="1645884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52B11F88-F42E-4C51-8E67-0609DBF22285}"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5F83A9A2-F5A4-4399-A59E-4873DCF9CD13}"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9" name="PlaceHolder 2"/>
          <p:cNvSpPr>
            <a:spLocks noGrp="1"/>
          </p:cNvSpPr>
          <p:nvPr>
            <p:ph/>
          </p:nvPr>
        </p:nvSpPr>
        <p:spPr>
          <a:xfrm>
            <a:off x="91440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30" name="PlaceHolder 3"/>
          <p:cNvSpPr>
            <a:spLocks noGrp="1"/>
          </p:cNvSpPr>
          <p:nvPr>
            <p:ph/>
          </p:nvPr>
        </p:nvSpPr>
        <p:spPr>
          <a:xfrm>
            <a:off x="9348120" y="2406960"/>
            <a:ext cx="8031600" cy="596592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BC531400-5A40-4E0C-B6DE-C312C2D1EB1D}" type="slidenum">
              <a:t>&lt;#&gt;</a:t>
            </a:fld>
          </a:p>
        </p:txBody>
      </p:sp>
      <p:sp>
        <p:nvSpPr>
          <p:cNvPr id="7" name="PlaceHolder 6"/>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6C5D966B-9861-47AD-A981-01624E431F33}" type="slidenum">
              <a:t>&lt;#&gt;</a:t>
            </a:fld>
          </a:p>
        </p:txBody>
      </p:sp>
      <p:sp>
        <p:nvSpPr>
          <p:cNvPr id="4" name="PlaceHolder 3"/>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8" name="PlaceHolder 1"/>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B6A81A2F-3DB4-42FE-A522-91AC4BF04E39}" type="slidenum">
              <a:t>&lt;#&gt;</a:t>
            </a:fld>
          </a:p>
        </p:txBody>
      </p:sp>
      <p:sp>
        <p:nvSpPr>
          <p:cNvPr id="5" name="PlaceHolder 4"/>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6EF46520-C93A-4BBF-AA8D-6BD57AA2DC33}" type="slidenum">
              <a:t>&lt;#&gt;</a:t>
            </a:fld>
          </a:p>
        </p:txBody>
      </p:sp>
      <p:sp>
        <p:nvSpPr>
          <p:cNvPr id="4" name="PlaceHolder 3"/>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5409D3FF-6227-45EC-A7A3-5F3C0C5204D6}"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555E3B1B-129B-4A45-B238-3867637B4235}" type="slidenum">
              <a:t>&lt;#&gt;</a:t>
            </a:fld>
          </a:p>
        </p:txBody>
      </p:sp>
      <p:sp>
        <p:nvSpPr>
          <p:cNvPr id="4" name="PlaceHolder 3"/>
          <p:cNvSpPr>
            <a:spLocks noGrp="1"/>
          </p:cNvSpPr>
          <p:nvPr>
            <p:ph type="dt" idx="33"/>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ftr" idx="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 name="PlaceHolder 3"/>
          <p:cNvSpPr>
            <a:spLocks noGrp="1"/>
          </p:cNvSpPr>
          <p:nvPr>
            <p:ph type="sldNum" idx="2"/>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C93EFB13-747F-49D3-97F4-3796EA90CF2B}"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 name="PlaceHolder 4"/>
          <p:cNvSpPr>
            <a:spLocks noGrp="1"/>
          </p:cNvSpPr>
          <p:nvPr>
            <p:ph type="dt" idx="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ftr" idx="4"/>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2"/>
          <p:cNvSpPr>
            <a:spLocks noGrp="1"/>
          </p:cNvSpPr>
          <p:nvPr>
            <p:ph type="sldNum" idx="5"/>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936439AA-1AFA-430F-B9E6-B520FE0E7267}"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8" name="PlaceHolder 3"/>
          <p:cNvSpPr>
            <a:spLocks noGrp="1"/>
          </p:cNvSpPr>
          <p:nvPr>
            <p:ph type="dt" idx="6"/>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ftr" idx="7"/>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2"/>
          <p:cNvSpPr>
            <a:spLocks noGrp="1"/>
          </p:cNvSpPr>
          <p:nvPr>
            <p:ph type="sldNum" idx="8"/>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59E29C2B-94FF-4613-A254-E279DD319CB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1" name="PlaceHolder 3"/>
          <p:cNvSpPr>
            <a:spLocks noGrp="1"/>
          </p:cNvSpPr>
          <p:nvPr>
            <p:ph type="dt" idx="9"/>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3" name="PlaceHolder 2"/>
          <p:cNvSpPr>
            <a:spLocks noGrp="1"/>
          </p:cNvSpPr>
          <p:nvPr>
            <p:ph type="body"/>
          </p:nvPr>
        </p:nvSpPr>
        <p:spPr>
          <a:xfrm>
            <a:off x="914400" y="2406960"/>
            <a:ext cx="1645848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 name="PlaceHolder 3"/>
          <p:cNvSpPr>
            <a:spLocks noGrp="1"/>
          </p:cNvSpPr>
          <p:nvPr>
            <p:ph type="ftr" idx="10"/>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4"/>
          <p:cNvSpPr>
            <a:spLocks noGrp="1"/>
          </p:cNvSpPr>
          <p:nvPr>
            <p:ph type="sldNum" idx="11"/>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B3B668AE-96EC-4380-95A3-6B565EF92F99}"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16" name="PlaceHolder 5"/>
          <p:cNvSpPr>
            <a:spLocks noGrp="1"/>
          </p:cNvSpPr>
          <p:nvPr>
            <p:ph type="dt" idx="12"/>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ftr" idx="13"/>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2"/>
          <p:cNvSpPr>
            <a:spLocks noGrp="1"/>
          </p:cNvSpPr>
          <p:nvPr>
            <p:ph type="sldNum" idx="14"/>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E88FF15E-A2B1-46BD-8855-DF90952BC7B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1" name="PlaceHolder 3"/>
          <p:cNvSpPr>
            <a:spLocks noGrp="1"/>
          </p:cNvSpPr>
          <p:nvPr>
            <p:ph type="dt" idx="15"/>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3" name="PlaceHolder 2"/>
          <p:cNvSpPr>
            <a:spLocks noGrp="1"/>
          </p:cNvSpPr>
          <p:nvPr>
            <p:ph type="body"/>
          </p:nvPr>
        </p:nvSpPr>
        <p:spPr>
          <a:xfrm>
            <a:off x="914400" y="2406960"/>
            <a:ext cx="803124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 name="PlaceHolder 3"/>
          <p:cNvSpPr>
            <a:spLocks noGrp="1"/>
          </p:cNvSpPr>
          <p:nvPr>
            <p:ph type="body"/>
          </p:nvPr>
        </p:nvSpPr>
        <p:spPr>
          <a:xfrm>
            <a:off x="9348120" y="2406960"/>
            <a:ext cx="8031240" cy="59655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5" name="PlaceHolder 4"/>
          <p:cNvSpPr>
            <a:spLocks noGrp="1"/>
          </p:cNvSpPr>
          <p:nvPr>
            <p:ph type="ftr" idx="16"/>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6" name="PlaceHolder 5"/>
          <p:cNvSpPr>
            <a:spLocks noGrp="1"/>
          </p:cNvSpPr>
          <p:nvPr>
            <p:ph type="sldNum" idx="17"/>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3C847929-D561-42F7-91A5-BEB02C0F2228}"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27" name="PlaceHolder 6"/>
          <p:cNvSpPr>
            <a:spLocks noGrp="1"/>
          </p:cNvSpPr>
          <p:nvPr>
            <p:ph type="dt" idx="18"/>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ftr" idx="19"/>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2" name="PlaceHolder 2"/>
          <p:cNvSpPr>
            <a:spLocks noGrp="1"/>
          </p:cNvSpPr>
          <p:nvPr>
            <p:ph type="sldNum" idx="20"/>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BC46C870-9808-4247-821D-5AB968DFFD8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3" name="PlaceHolder 3"/>
          <p:cNvSpPr>
            <a:spLocks noGrp="1"/>
          </p:cNvSpPr>
          <p:nvPr>
            <p:ph type="dt" idx="21"/>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480" cy="171720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5" name="PlaceHolder 2"/>
          <p:cNvSpPr>
            <a:spLocks noGrp="1"/>
          </p:cNvSpPr>
          <p:nvPr>
            <p:ph type="ftr" idx="22"/>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6" name="PlaceHolder 3"/>
          <p:cNvSpPr>
            <a:spLocks noGrp="1"/>
          </p:cNvSpPr>
          <p:nvPr>
            <p:ph type="sldNum" idx="23"/>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9AF17AE4-2349-494E-A143-33C9441F0DB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37" name="PlaceHolder 4"/>
          <p:cNvSpPr>
            <a:spLocks noGrp="1"/>
          </p:cNvSpPr>
          <p:nvPr>
            <p:ph type="dt" idx="24"/>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 name="PlaceHolder 1"/>
          <p:cNvSpPr>
            <a:spLocks noGrp="1"/>
          </p:cNvSpPr>
          <p:nvPr>
            <p:ph type="ftr" idx="25"/>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0" name="PlaceHolder 2"/>
          <p:cNvSpPr>
            <a:spLocks noGrp="1"/>
          </p:cNvSpPr>
          <p:nvPr>
            <p:ph type="sldNum" idx="26"/>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3DD6BE3B-F895-4B1B-92ED-E7EA91E37A8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1" name="PlaceHolder 3"/>
          <p:cNvSpPr>
            <a:spLocks noGrp="1"/>
          </p:cNvSpPr>
          <p:nvPr>
            <p:ph type="dt" idx="27"/>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2"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43"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ftr" idx="28"/>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5" name="PlaceHolder 2"/>
          <p:cNvSpPr>
            <a:spLocks noGrp="1"/>
          </p:cNvSpPr>
          <p:nvPr>
            <p:ph type="sldNum" idx="29"/>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6EF24178-F394-43A0-BA18-0B64A31038FC}"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6" name="PlaceHolder 3"/>
          <p:cNvSpPr>
            <a:spLocks noGrp="1"/>
          </p:cNvSpPr>
          <p:nvPr>
            <p:ph type="dt" idx="30"/>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ftr" idx="31"/>
          </p:nvPr>
        </p:nvSpPr>
        <p:spPr>
          <a:xfrm>
            <a:off x="3124080" y="6356520"/>
            <a:ext cx="289440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pc="-1" strike="noStrike">
                <a:solidFill>
                  <a:srgbClr val="000000"/>
                </a:solidFill>
                <a:latin typeface="Times New Roman"/>
              </a:defRPr>
            </a:lvl1pPr>
          </a:lstStyle>
          <a:p>
            <a:pPr indent="0" algn="ctr">
              <a:lnSpc>
                <a:spcPct val="100000"/>
              </a:lnSpc>
              <a:buNone/>
              <a:tabLst>
                <a:tab algn="l" pos="0"/>
              </a:tabLst>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2"/>
          <p:cNvSpPr>
            <a:spLocks noGrp="1"/>
          </p:cNvSpPr>
          <p:nvPr>
            <p:ph type="sldNum" idx="32"/>
          </p:nvPr>
        </p:nvSpPr>
        <p:spPr>
          <a:xfrm>
            <a:off x="6553080" y="6356520"/>
            <a:ext cx="213264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Calibri"/>
              </a:defRPr>
            </a:lvl1pPr>
          </a:lstStyle>
          <a:p>
            <a:pPr indent="0" algn="r" defTabSz="914400">
              <a:lnSpc>
                <a:spcPct val="100000"/>
              </a:lnSpc>
              <a:buNone/>
              <a:tabLst>
                <a:tab algn="l" pos="0"/>
              </a:tabLst>
            </a:pPr>
            <a:fld id="{00A54D3F-A24A-49E6-A8F7-83642C067FA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49" name="PlaceHolder 3"/>
          <p:cNvSpPr>
            <a:spLocks noGrp="1"/>
          </p:cNvSpPr>
          <p:nvPr>
            <p:ph type="dt" idx="33"/>
          </p:nvPr>
        </p:nvSpPr>
        <p:spPr>
          <a:xfrm>
            <a:off x="457200" y="6356520"/>
            <a:ext cx="2132640" cy="363960"/>
          </a:xfrm>
          <a:prstGeom prst="rect">
            <a:avLst/>
          </a:prstGeom>
          <a:noFill/>
          <a:ln w="0">
            <a:noFill/>
          </a:ln>
        </p:spPr>
        <p:txBody>
          <a:bodyPr lIns="91440" rIns="91440" tIns="45720" bIns="45720" anchor="ctr">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9.xml"/>
</Relationships>
</file>

<file path=ppt/slides/_rels/slide15.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9.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grpSp>
        <p:nvGrpSpPr>
          <p:cNvPr id="50" name="Group 2"/>
          <p:cNvGrpSpPr/>
          <p:nvPr/>
        </p:nvGrpSpPr>
        <p:grpSpPr>
          <a:xfrm>
            <a:off x="11756880" y="-548280"/>
            <a:ext cx="6530040" cy="11785320"/>
            <a:chOff x="11756880" y="-548280"/>
            <a:chExt cx="6530040" cy="11785320"/>
          </a:xfrm>
        </p:grpSpPr>
        <p:sp>
          <p:nvSpPr>
            <p:cNvPr id="51" name="Freeform 3"/>
            <p:cNvSpPr/>
            <p:nvPr/>
          </p:nvSpPr>
          <p:spPr>
            <a:xfrm>
              <a:off x="11756880" y="-403560"/>
              <a:ext cx="6530040" cy="11640600"/>
            </a:xfrm>
            <a:custGeom>
              <a:avLst/>
              <a:gdLst>
                <a:gd name="textAreaLeft" fmla="*/ 0 w 6530040"/>
                <a:gd name="textAreaRight" fmla="*/ 6531120 w 6530040"/>
                <a:gd name="textAreaTop" fmla="*/ 0 h 11640600"/>
                <a:gd name="textAreaBottom" fmla="*/ 11641680 h 11640600"/>
              </a:gdLst>
              <a:ahLst/>
              <a:rect l="textAreaLeft" t="textAreaTop" r="textAreaRight" b="textAreaBottom"/>
              <a:pathLst>
                <a:path w="1720148" h="3066147">
                  <a:moveTo>
                    <a:pt x="0" y="0"/>
                  </a:moveTo>
                  <a:lnTo>
                    <a:pt x="1720148" y="0"/>
                  </a:lnTo>
                  <a:lnTo>
                    <a:pt x="1720148" y="3066147"/>
                  </a:lnTo>
                  <a:lnTo>
                    <a:pt x="0" y="3066147"/>
                  </a:lnTo>
                  <a:close/>
                </a:path>
              </a:pathLst>
            </a:custGeom>
            <a:gradFill rotWithShape="0">
              <a:gsLst>
                <a:gs pos="0">
                  <a:srgbClr val="000000">
                    <a:alpha val="0"/>
                  </a:srgbClr>
                </a:gs>
                <a:gs pos="100000">
                  <a:srgbClr val="000000"/>
                </a:gs>
              </a:gsLst>
              <a:lin ang="0"/>
            </a:gra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2" name="TextBox 4"/>
            <p:cNvSpPr/>
            <p:nvPr/>
          </p:nvSpPr>
          <p:spPr>
            <a:xfrm>
              <a:off x="11756880" y="-548280"/>
              <a:ext cx="6530040" cy="1178532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083"/>
                </a:lnSpc>
              </a:pPr>
              <a:endParaRPr b="0" lang="en-US" sz="1800" spc="-1" strike="noStrike">
                <a:solidFill>
                  <a:schemeClr val="dk1"/>
                </a:solidFill>
                <a:latin typeface="Calibri"/>
              </a:endParaRPr>
            </a:p>
          </p:txBody>
        </p:sp>
      </p:grpSp>
      <p:sp>
        <p:nvSpPr>
          <p:cNvPr id="53" name="Freeform 6"/>
          <p:cNvSpPr/>
          <p:nvPr/>
        </p:nvSpPr>
        <p:spPr>
          <a:xfrm flipH="1" flipV="1" rot="829200">
            <a:off x="1074240" y="-4819680"/>
            <a:ext cx="19148760" cy="6988680"/>
          </a:xfrm>
          <a:custGeom>
            <a:avLst/>
            <a:gdLst>
              <a:gd name="textAreaLeft" fmla="*/ -720 w 19148760"/>
              <a:gd name="textAreaRight" fmla="*/ 19149120 w 19148760"/>
              <a:gd name="textAreaTop" fmla="*/ 720 h 6988680"/>
              <a:gd name="textAreaBottom" fmla="*/ 6990480 h 6988680"/>
            </a:gdLst>
            <a:ahLst/>
            <a:rect l="textAreaLeft" t="textAreaTop" r="textAreaRight" b="textAreaBottom"/>
            <a:pathLst>
              <a:path w="19149891" h="6989710">
                <a:moveTo>
                  <a:pt x="19149891" y="6989710"/>
                </a:moveTo>
                <a:lnTo>
                  <a:pt x="0" y="6989710"/>
                </a:lnTo>
                <a:lnTo>
                  <a:pt x="0" y="0"/>
                </a:lnTo>
                <a:lnTo>
                  <a:pt x="19149891" y="0"/>
                </a:lnTo>
                <a:lnTo>
                  <a:pt x="19149891" y="6989710"/>
                </a:lnTo>
                <a:close/>
              </a:path>
            </a:pathLst>
          </a:custGeom>
          <a:blipFill rotWithShape="0">
            <a:blip r:embed="rId1">
              <a:alphaModFix amt="43000"/>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54" name="TextBox 7"/>
          <p:cNvSpPr/>
          <p:nvPr/>
        </p:nvSpPr>
        <p:spPr>
          <a:xfrm>
            <a:off x="690120" y="9093240"/>
            <a:ext cx="5481360" cy="939240"/>
          </a:xfrm>
          <a:prstGeom prst="rect">
            <a:avLst/>
          </a:prstGeom>
          <a:noFill/>
          <a:ln w="0">
            <a:noFill/>
          </a:ln>
        </p:spPr>
        <p:style>
          <a:lnRef idx="0"/>
          <a:fillRef idx="0"/>
          <a:effectRef idx="0"/>
          <a:fontRef idx="minor"/>
        </p:style>
        <p:txBody>
          <a:bodyPr lIns="0" rIns="0" tIns="0" bIns="0" anchor="t">
            <a:spAutoFit/>
          </a:bodyPr>
          <a:p>
            <a:pPr defTabSz="914400">
              <a:lnSpc>
                <a:spcPts val="3798"/>
              </a:lnSpc>
            </a:pPr>
            <a:r>
              <a:rPr b="0" i="1" lang="en-US" sz="3000" spc="-1" strike="noStrike">
                <a:solidFill>
                  <a:srgbClr val="ffffff"/>
                </a:solidFill>
                <a:latin typeface="Raleway Italics"/>
                <a:ea typeface="Raleway Italics"/>
              </a:rPr>
              <a:t>Basel Al-Dwairi 20221502065</a:t>
            </a:r>
            <a:endParaRPr b="0" lang="en-US" sz="3000" spc="-1" strike="noStrike">
              <a:solidFill>
                <a:srgbClr val="ffffff"/>
              </a:solidFill>
              <a:latin typeface="Arial"/>
            </a:endParaRPr>
          </a:p>
          <a:p>
            <a:pPr defTabSz="914400">
              <a:lnSpc>
                <a:spcPct val="100000"/>
              </a:lnSpc>
            </a:pPr>
            <a:r>
              <a:rPr b="0" lang="en-US" sz="3000" spc="-1" strike="noStrike">
                <a:solidFill>
                  <a:srgbClr val="cccccc"/>
                </a:solidFill>
                <a:latin typeface="Calisto MT"/>
                <a:ea typeface="Raleway Italics"/>
              </a:rPr>
              <a:t>Omar Alamssi</a:t>
            </a:r>
            <a:r>
              <a:rPr b="0" lang="en-US" sz="3000" spc="-1" strike="noStrike">
                <a:solidFill>
                  <a:srgbClr val="cccccc"/>
                </a:solidFill>
                <a:latin typeface="Calisto MT"/>
                <a:ea typeface="Raleway Italics"/>
              </a:rPr>
              <a:t>	</a:t>
            </a:r>
            <a:r>
              <a:rPr b="0" lang="en-US" sz="3000" spc="-1" strike="noStrike">
                <a:solidFill>
                  <a:srgbClr val="cccccc"/>
                </a:solidFill>
                <a:latin typeface="Calisto MT"/>
                <a:ea typeface="Raleway Italics"/>
              </a:rPr>
              <a:t>20229502031</a:t>
            </a:r>
            <a:endParaRPr b="0" lang="en-US" sz="3000" spc="-1" strike="noStrike">
              <a:solidFill>
                <a:srgbClr val="ffffff"/>
              </a:solidFill>
              <a:latin typeface="Arial"/>
            </a:endParaRPr>
          </a:p>
        </p:txBody>
      </p:sp>
      <p:sp>
        <p:nvSpPr>
          <p:cNvPr id="55" name="TextBox 8"/>
          <p:cNvSpPr/>
          <p:nvPr/>
        </p:nvSpPr>
        <p:spPr>
          <a:xfrm>
            <a:off x="764280" y="153720"/>
            <a:ext cx="14828040" cy="3584160"/>
          </a:xfrm>
          <a:prstGeom prst="rect">
            <a:avLst/>
          </a:prstGeom>
          <a:noFill/>
          <a:ln w="0">
            <a:noFill/>
          </a:ln>
        </p:spPr>
        <p:style>
          <a:lnRef idx="0"/>
          <a:fillRef idx="0"/>
          <a:effectRef idx="0"/>
          <a:fontRef idx="minor"/>
        </p:style>
        <p:txBody>
          <a:bodyPr lIns="0" rIns="0" tIns="0" bIns="0" anchor="t">
            <a:spAutoFit/>
          </a:bodyPr>
          <a:p>
            <a:pPr algn="ctr" defTabSz="914400">
              <a:lnSpc>
                <a:spcPts val="9408"/>
              </a:lnSpc>
            </a:pPr>
            <a:r>
              <a:rPr b="0" lang="en-US" sz="6719" spc="-1" strike="noStrike">
                <a:solidFill>
                  <a:srgbClr val="ffffff"/>
                </a:solidFill>
                <a:latin typeface="Times New Roman"/>
                <a:ea typeface="Times New Roman"/>
              </a:rPr>
              <a:t>Temperature Prediction Using Time-Series </a:t>
            </a:r>
            <a:endParaRPr b="0" lang="en-US" sz="6719" spc="-1" strike="noStrike">
              <a:solidFill>
                <a:srgbClr val="ffffff"/>
              </a:solidFill>
              <a:latin typeface="Arial"/>
            </a:endParaRPr>
          </a:p>
          <a:p>
            <a:pPr algn="ctr" defTabSz="914400">
              <a:lnSpc>
                <a:spcPts val="9408"/>
              </a:lnSpc>
            </a:pPr>
            <a:r>
              <a:rPr b="0" lang="en-US" sz="6719" spc="-1" strike="noStrike">
                <a:solidFill>
                  <a:srgbClr val="ffffff"/>
                </a:solidFill>
                <a:latin typeface="Times New Roman"/>
                <a:ea typeface="Times New Roman"/>
              </a:rPr>
              <a:t>and Deep Learning Models</a:t>
            </a:r>
            <a:endParaRPr b="0" lang="en-US" sz="6719" spc="-1" strike="noStrike">
              <a:solidFill>
                <a:srgbClr val="ffffff"/>
              </a:solidFill>
              <a:latin typeface="Arial"/>
            </a:endParaRPr>
          </a:p>
          <a:p>
            <a:pPr algn="ctr" defTabSz="914400">
              <a:lnSpc>
                <a:spcPts val="9408"/>
              </a:lnSpc>
            </a:pPr>
            <a:endParaRPr b="0" lang="en-US" sz="1800" spc="-1" strike="noStrike">
              <a:solidFill>
                <a:srgbClr val="ffffff"/>
              </a:solidFill>
              <a:latin typeface="Arial"/>
            </a:endParaRPr>
          </a:p>
        </p:txBody>
      </p:sp>
      <p:sp>
        <p:nvSpPr>
          <p:cNvPr id="56" name="TextBox 9"/>
          <p:cNvSpPr/>
          <p:nvPr/>
        </p:nvSpPr>
        <p:spPr>
          <a:xfrm>
            <a:off x="1279080" y="6270840"/>
            <a:ext cx="4892400" cy="586440"/>
          </a:xfrm>
          <a:prstGeom prst="rect">
            <a:avLst/>
          </a:prstGeom>
          <a:noFill/>
          <a:ln w="0">
            <a:noFill/>
          </a:ln>
        </p:spPr>
        <p:style>
          <a:lnRef idx="0"/>
          <a:fillRef idx="0"/>
          <a:effectRef idx="0"/>
          <a:fontRef idx="minor"/>
        </p:style>
        <p:txBody>
          <a:bodyPr lIns="0" rIns="0" tIns="0" bIns="0" anchor="t">
            <a:spAutoFit/>
          </a:bodyPr>
          <a:p>
            <a:pPr algn="ctr" defTabSz="914400">
              <a:lnSpc>
                <a:spcPts val="4620"/>
              </a:lnSpc>
            </a:pPr>
            <a:r>
              <a:rPr b="1" lang="en-US" sz="3300" spc="-1" strike="noStrike">
                <a:solidFill>
                  <a:srgbClr val="ffffff"/>
                </a:solidFill>
                <a:latin typeface="DM Sans Bold"/>
                <a:ea typeface="DM Sans Bold"/>
              </a:rPr>
              <a:t>Deep Learning CE561</a:t>
            </a:r>
            <a:endParaRPr b="0" lang="en-US" sz="3300" spc="-1" strike="noStrike">
              <a:solidFill>
                <a:srgbClr val="ffffff"/>
              </a:solidFill>
              <a:latin typeface="Arial"/>
            </a:endParaRPr>
          </a:p>
        </p:txBody>
      </p:sp>
      <p:sp>
        <p:nvSpPr>
          <p:cNvPr id="57" name="TextBox 10"/>
          <p:cNvSpPr/>
          <p:nvPr/>
        </p:nvSpPr>
        <p:spPr>
          <a:xfrm>
            <a:off x="472680" y="7056360"/>
            <a:ext cx="9585000" cy="1173240"/>
          </a:xfrm>
          <a:prstGeom prst="rect">
            <a:avLst/>
          </a:prstGeom>
          <a:noFill/>
          <a:ln w="0">
            <a:noFill/>
          </a:ln>
        </p:spPr>
        <p:style>
          <a:lnRef idx="0"/>
          <a:fillRef idx="0"/>
          <a:effectRef idx="0"/>
          <a:fontRef idx="minor"/>
        </p:style>
        <p:txBody>
          <a:bodyPr lIns="0" rIns="0" tIns="0" bIns="0" anchor="t">
            <a:spAutoFit/>
          </a:bodyPr>
          <a:p>
            <a:pPr algn="ctr" defTabSz="914400">
              <a:lnSpc>
                <a:spcPts val="4620"/>
              </a:lnSpc>
            </a:pPr>
            <a:r>
              <a:rPr b="1" lang="en-US" sz="3300" spc="-1" strike="noStrike">
                <a:solidFill>
                  <a:srgbClr val="ffffff"/>
                </a:solidFill>
                <a:latin typeface="DM Sans Bold"/>
                <a:ea typeface="DM Sans Bold"/>
              </a:rPr>
              <a:t>Data Gathering, Data preprocessing, RNN/LSTM</a:t>
            </a:r>
            <a:endParaRPr b="0" lang="en-US" sz="3300" spc="-1" strike="noStrike">
              <a:solidFill>
                <a:srgbClr val="ffffff"/>
              </a:solidFill>
              <a:latin typeface="Arial"/>
            </a:endParaRPr>
          </a:p>
        </p:txBody>
      </p:sp>
      <p:sp>
        <p:nvSpPr>
          <p:cNvPr id="58" name="TextBox 11"/>
          <p:cNvSpPr/>
          <p:nvPr/>
        </p:nvSpPr>
        <p:spPr>
          <a:xfrm>
            <a:off x="1507680" y="3668040"/>
            <a:ext cx="8321400" cy="1336680"/>
          </a:xfrm>
          <a:prstGeom prst="rect">
            <a:avLst/>
          </a:prstGeom>
          <a:noFill/>
          <a:ln w="0">
            <a:noFill/>
          </a:ln>
        </p:spPr>
        <p:style>
          <a:lnRef idx="0"/>
          <a:fillRef idx="0"/>
          <a:effectRef idx="0"/>
          <a:fontRef idx="minor"/>
        </p:style>
        <p:txBody>
          <a:bodyPr lIns="0" rIns="0" tIns="0" bIns="0" anchor="t">
            <a:spAutoFit/>
          </a:bodyPr>
          <a:p>
            <a:pPr algn="ctr" defTabSz="914400">
              <a:lnSpc>
                <a:spcPts val="5264"/>
              </a:lnSpc>
            </a:pPr>
            <a:r>
              <a:rPr b="1" lang="en-US" sz="3759" spc="-1" strike="noStrike">
                <a:solidFill>
                  <a:srgbClr val="ffffff"/>
                </a:solidFill>
                <a:latin typeface="DM Sans Bold"/>
                <a:ea typeface="DM Sans Bold"/>
              </a:rPr>
              <a:t>1.TSA Regression of Temperature</a:t>
            </a:r>
            <a:endParaRPr b="0" lang="en-US" sz="3759" spc="-1" strike="noStrike">
              <a:solidFill>
                <a:srgbClr val="ffffff"/>
              </a:solidFill>
              <a:latin typeface="Arial"/>
            </a:endParaRPr>
          </a:p>
          <a:p>
            <a:pPr algn="ctr" defTabSz="914400">
              <a:lnSpc>
                <a:spcPts val="5264"/>
              </a:lnSpc>
            </a:pPr>
            <a:r>
              <a:rPr b="1" lang="en-US" sz="3759" spc="-1" strike="noStrike">
                <a:solidFill>
                  <a:srgbClr val="ffffff"/>
                </a:solidFill>
                <a:latin typeface="DM Sans Bold"/>
                <a:ea typeface="DM Sans Bold"/>
              </a:rPr>
              <a:t>2.TSA Classification of Conditions</a:t>
            </a:r>
            <a:endParaRPr b="0" lang="en-US" sz="3759"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59" name="TextBox 2"/>
          <p:cNvSpPr/>
          <p:nvPr/>
        </p:nvSpPr>
        <p:spPr>
          <a:xfrm>
            <a:off x="591840" y="885960"/>
            <a:ext cx="969444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DM Sans Bold"/>
                <a:ea typeface="DM Sans Bold"/>
              </a:rPr>
              <a:t>Project Overview</a:t>
            </a:r>
            <a:endParaRPr b="0" lang="en-US" sz="7600" spc="-1" strike="noStrike">
              <a:solidFill>
                <a:srgbClr val="ffffff"/>
              </a:solidFill>
              <a:latin typeface="Arial"/>
            </a:endParaRPr>
          </a:p>
        </p:txBody>
      </p:sp>
      <p:sp>
        <p:nvSpPr>
          <p:cNvPr id="60" name="TextBox 3"/>
          <p:cNvSpPr/>
          <p:nvPr/>
        </p:nvSpPr>
        <p:spPr>
          <a:xfrm>
            <a:off x="1028880" y="2389320"/>
            <a:ext cx="11837160" cy="5509080"/>
          </a:xfrm>
          <a:prstGeom prst="rect">
            <a:avLst/>
          </a:prstGeom>
          <a:noFill/>
          <a:ln w="0">
            <a:noFill/>
          </a:ln>
        </p:spPr>
        <p:style>
          <a:lnRef idx="0"/>
          <a:fillRef idx="0"/>
          <a:effectRef idx="0"/>
          <a:fontRef idx="minor"/>
        </p:style>
        <p:txBody>
          <a:bodyPr lIns="0" rIns="0" tIns="0" bIns="0" anchor="t">
            <a:spAutoFit/>
          </a:bodyPr>
          <a:p>
            <a:pPr algn="just" defTabSz="914400">
              <a:lnSpc>
                <a:spcPts val="4201"/>
              </a:lnSpc>
            </a:pPr>
            <a:r>
              <a:rPr b="1" lang="en-US" sz="3000" spc="-1" strike="noStrike">
                <a:solidFill>
                  <a:srgbClr val="ffffff"/>
                </a:solidFill>
                <a:latin typeface="DM Sans Bold"/>
                <a:ea typeface="DM Sans Bold"/>
              </a:rPr>
              <a:t>Problem:</a:t>
            </a:r>
            <a:endParaRPr b="0" lang="en-US" sz="3000" spc="-1" strike="noStrike">
              <a:solidFill>
                <a:srgbClr val="ffffff"/>
              </a:solidFill>
              <a:latin typeface="Arial"/>
            </a:endParaRPr>
          </a:p>
          <a:p>
            <a:pPr algn="just" defTabSz="914400">
              <a:lnSpc>
                <a:spcPts val="3498"/>
              </a:lnSpc>
            </a:pPr>
            <a:r>
              <a:rPr b="1" lang="en-US" sz="2500" spc="-1" strike="noStrike">
                <a:solidFill>
                  <a:srgbClr val="ffffff"/>
                </a:solidFill>
                <a:latin typeface="DM Sans Bold"/>
                <a:ea typeface="DM Sans Bold"/>
              </a:rPr>
              <a:t>Predicting hourly temperature and classifying weather conditions is essential for planning daily activities, agriculture, and safety measures. Traditional forecasting methods often fail to capture complex temporal patterns in weather data.</a:t>
            </a:r>
            <a:endParaRPr b="0" lang="en-US" sz="2500" spc="-1" strike="noStrike">
              <a:solidFill>
                <a:srgbClr val="ffffff"/>
              </a:solidFill>
              <a:latin typeface="Arial"/>
            </a:endParaRPr>
          </a:p>
          <a:p>
            <a:pPr algn="just" defTabSz="914400">
              <a:lnSpc>
                <a:spcPts val="3498"/>
              </a:lnSpc>
            </a:pPr>
            <a:endParaRPr b="0" lang="en-US" sz="1800" spc="-1" strike="noStrike">
              <a:solidFill>
                <a:srgbClr val="ffffff"/>
              </a:solidFill>
              <a:latin typeface="Arial"/>
            </a:endParaRPr>
          </a:p>
          <a:p>
            <a:pPr algn="just" defTabSz="914400">
              <a:lnSpc>
                <a:spcPts val="4201"/>
              </a:lnSpc>
            </a:pPr>
            <a:r>
              <a:rPr b="1" lang="en-US" sz="3000" spc="-1" strike="noStrike">
                <a:solidFill>
                  <a:srgbClr val="ffffff"/>
                </a:solidFill>
                <a:latin typeface="DM Sans Bold"/>
                <a:ea typeface="DM Sans Bold"/>
              </a:rPr>
              <a:t>Objective:</a:t>
            </a:r>
            <a:endParaRPr b="0" lang="en-US" sz="3000" spc="-1" strike="noStrike">
              <a:solidFill>
                <a:srgbClr val="ffffff"/>
              </a:solidFill>
              <a:latin typeface="Arial"/>
            </a:endParaRPr>
          </a:p>
          <a:p>
            <a:pPr algn="just" defTabSz="914400">
              <a:lnSpc>
                <a:spcPts val="3498"/>
              </a:lnSpc>
            </a:pPr>
            <a:r>
              <a:rPr b="1" lang="en-US" sz="2500" spc="-1" strike="noStrike">
                <a:solidFill>
                  <a:srgbClr val="ffffff"/>
                </a:solidFill>
                <a:latin typeface="DM Sans Bold"/>
                <a:ea typeface="DM Sans Bold"/>
              </a:rPr>
              <a:t>The goal of this project is to apply Deep Learning models, specifically RNN and LSTM, to accurately predict temperature and classify weather conditions using historical hourly weather data. The model should learn temporal dependencies and seasonal patterns to make near-real-time predictions.</a:t>
            </a:r>
            <a:endParaRPr b="0" lang="en-US" sz="25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361b70"/>
            </a:gs>
            <a:gs pos="100000">
              <a:srgbClr val="000000"/>
            </a:gs>
          </a:gsLst>
          <a:lin ang="0"/>
        </a:gradFill>
      </p:bgPr>
    </p:bg>
    <p:spTree>
      <p:nvGrpSpPr>
        <p:cNvPr id="1" name=""/>
        <p:cNvGrpSpPr/>
        <p:nvPr/>
      </p:nvGrpSpPr>
      <p:grpSpPr>
        <a:xfrm>
          <a:off x="0" y="0"/>
          <a:ext cx="0" cy="0"/>
          <a:chOff x="0" y="0"/>
          <a:chExt cx="0" cy="0"/>
        </a:xfrm>
      </p:grpSpPr>
      <p:grpSp>
        <p:nvGrpSpPr>
          <p:cNvPr id="61" name="Group 2"/>
          <p:cNvGrpSpPr/>
          <p:nvPr/>
        </p:nvGrpSpPr>
        <p:grpSpPr>
          <a:xfrm>
            <a:off x="798120" y="7124040"/>
            <a:ext cx="3085200" cy="2035800"/>
            <a:chOff x="798120" y="7124040"/>
            <a:chExt cx="3085200" cy="2035800"/>
          </a:xfrm>
        </p:grpSpPr>
        <p:sp>
          <p:nvSpPr>
            <p:cNvPr id="62" name="Freeform 3"/>
            <p:cNvSpPr/>
            <p:nvPr/>
          </p:nvSpPr>
          <p:spPr>
            <a:xfrm>
              <a:off x="798120" y="7124040"/>
              <a:ext cx="3085200" cy="2035800"/>
            </a:xfrm>
            <a:custGeom>
              <a:avLst/>
              <a:gdLst>
                <a:gd name="textAreaLeft" fmla="*/ 0 w 3085200"/>
                <a:gd name="textAreaRight" fmla="*/ 3086280 w 3085200"/>
                <a:gd name="textAreaTop" fmla="*/ 0 h 2035800"/>
                <a:gd name="textAreaBottom" fmla="*/ 2036880 h 2035800"/>
              </a:gdLst>
              <a:ahLst/>
              <a:rect l="textAreaLeft" t="textAreaTop" r="textAreaRight" b="textAreaBottom"/>
              <a:pathLst>
                <a:path w="635000" h="4191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01213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3" name="TextBox 4"/>
            <p:cNvSpPr/>
            <p:nvPr/>
          </p:nvSpPr>
          <p:spPr>
            <a:xfrm>
              <a:off x="798120" y="7401600"/>
              <a:ext cx="3085200" cy="1757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268"/>
                </a:lnSpc>
              </a:pPr>
              <a:r>
                <a:rPr b="0" lang="en-US" sz="2380" spc="-1" strike="noStrike">
                  <a:solidFill>
                    <a:srgbClr val="ffffff"/>
                  </a:solidFill>
                  <a:latin typeface="DM Sans"/>
                  <a:ea typeface="DM Sans"/>
                </a:rPr>
                <a:t>Historical Weather Data</a:t>
              </a:r>
              <a:endParaRPr b="0" lang="en-US" sz="2380" spc="-1" strike="noStrike">
                <a:solidFill>
                  <a:srgbClr val="ffffff"/>
                </a:solidFill>
                <a:latin typeface="Arial"/>
              </a:endParaRPr>
            </a:p>
          </p:txBody>
        </p:sp>
      </p:grpSp>
      <p:grpSp>
        <p:nvGrpSpPr>
          <p:cNvPr id="64" name="Group 5"/>
          <p:cNvGrpSpPr/>
          <p:nvPr/>
        </p:nvGrpSpPr>
        <p:grpSpPr>
          <a:xfrm>
            <a:off x="5225400" y="6933960"/>
            <a:ext cx="3085200" cy="2035800"/>
            <a:chOff x="5225400" y="6933960"/>
            <a:chExt cx="3085200" cy="2035800"/>
          </a:xfrm>
        </p:grpSpPr>
        <p:sp>
          <p:nvSpPr>
            <p:cNvPr id="65" name="Freeform 6"/>
            <p:cNvSpPr/>
            <p:nvPr/>
          </p:nvSpPr>
          <p:spPr>
            <a:xfrm>
              <a:off x="5225400" y="6933960"/>
              <a:ext cx="3085200" cy="2035800"/>
            </a:xfrm>
            <a:custGeom>
              <a:avLst/>
              <a:gdLst>
                <a:gd name="textAreaLeft" fmla="*/ 0 w 3085200"/>
                <a:gd name="textAreaRight" fmla="*/ 3086280 w 3085200"/>
                <a:gd name="textAreaTop" fmla="*/ 0 h 2035800"/>
                <a:gd name="textAreaBottom" fmla="*/ 2036880 h 2035800"/>
              </a:gdLst>
              <a:ahLst/>
              <a:rect l="textAreaLeft" t="textAreaTop" r="textAreaRight" b="textAreaBottom"/>
              <a:pathLst>
                <a:path w="635000" h="4191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01213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6" name="TextBox 7"/>
            <p:cNvSpPr/>
            <p:nvPr/>
          </p:nvSpPr>
          <p:spPr>
            <a:xfrm>
              <a:off x="5225400" y="7211880"/>
              <a:ext cx="3085200" cy="1757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268"/>
                </a:lnSpc>
              </a:pPr>
              <a:r>
                <a:rPr b="1" lang="en-US" sz="2380" spc="-1" strike="noStrike">
                  <a:solidFill>
                    <a:srgbClr val="ffffff"/>
                  </a:solidFill>
                  <a:latin typeface="DM Sans Bold"/>
                  <a:ea typeface="DM Sans Bold"/>
                </a:rPr>
                <a:t>Preprocessing</a:t>
              </a:r>
              <a:endParaRPr b="0" lang="en-US" sz="2380" spc="-1" strike="noStrike">
                <a:solidFill>
                  <a:srgbClr val="ffffff"/>
                </a:solidFill>
                <a:latin typeface="Arial"/>
              </a:endParaRPr>
            </a:p>
          </p:txBody>
        </p:sp>
      </p:grpSp>
      <p:grpSp>
        <p:nvGrpSpPr>
          <p:cNvPr id="67" name="Group 8"/>
          <p:cNvGrpSpPr/>
          <p:nvPr/>
        </p:nvGrpSpPr>
        <p:grpSpPr>
          <a:xfrm>
            <a:off x="9654480" y="6933960"/>
            <a:ext cx="3085200" cy="2035800"/>
            <a:chOff x="9654480" y="6933960"/>
            <a:chExt cx="3085200" cy="2035800"/>
          </a:xfrm>
        </p:grpSpPr>
        <p:sp>
          <p:nvSpPr>
            <p:cNvPr id="68" name="Freeform 9"/>
            <p:cNvSpPr/>
            <p:nvPr/>
          </p:nvSpPr>
          <p:spPr>
            <a:xfrm>
              <a:off x="9654480" y="6933960"/>
              <a:ext cx="3085200" cy="2035800"/>
            </a:xfrm>
            <a:custGeom>
              <a:avLst/>
              <a:gdLst>
                <a:gd name="textAreaLeft" fmla="*/ 0 w 3085200"/>
                <a:gd name="textAreaRight" fmla="*/ 3086280 w 3085200"/>
                <a:gd name="textAreaTop" fmla="*/ 0 h 2035800"/>
                <a:gd name="textAreaBottom" fmla="*/ 2036880 h 2035800"/>
              </a:gdLst>
              <a:ahLst/>
              <a:rect l="textAreaLeft" t="textAreaTop" r="textAreaRight" b="textAreaBottom"/>
              <a:pathLst>
                <a:path w="635000" h="4191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01213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69" name="TextBox 10"/>
            <p:cNvSpPr/>
            <p:nvPr/>
          </p:nvSpPr>
          <p:spPr>
            <a:xfrm>
              <a:off x="9654480" y="7211880"/>
              <a:ext cx="3085200" cy="1757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268"/>
                </a:lnSpc>
              </a:pPr>
              <a:r>
                <a:rPr b="1" lang="en-US" sz="2380" spc="-1" strike="noStrike">
                  <a:solidFill>
                    <a:srgbClr val="ffffff"/>
                  </a:solidFill>
                  <a:latin typeface="DM Sans Bold"/>
                  <a:ea typeface="DM Sans Bold"/>
                </a:rPr>
                <a:t>RNN/LSTM</a:t>
              </a:r>
              <a:endParaRPr b="0" lang="en-US" sz="2380" spc="-1" strike="noStrike">
                <a:solidFill>
                  <a:srgbClr val="ffffff"/>
                </a:solidFill>
                <a:latin typeface="Arial"/>
              </a:endParaRPr>
            </a:p>
          </p:txBody>
        </p:sp>
      </p:grpSp>
      <p:grpSp>
        <p:nvGrpSpPr>
          <p:cNvPr id="70" name="Group 11"/>
          <p:cNvGrpSpPr/>
          <p:nvPr/>
        </p:nvGrpSpPr>
        <p:grpSpPr>
          <a:xfrm>
            <a:off x="13951800" y="6933960"/>
            <a:ext cx="3085200" cy="2035800"/>
            <a:chOff x="13951800" y="6933960"/>
            <a:chExt cx="3085200" cy="2035800"/>
          </a:xfrm>
        </p:grpSpPr>
        <p:sp>
          <p:nvSpPr>
            <p:cNvPr id="71" name="Freeform 12"/>
            <p:cNvSpPr/>
            <p:nvPr/>
          </p:nvSpPr>
          <p:spPr>
            <a:xfrm>
              <a:off x="13951800" y="6933960"/>
              <a:ext cx="3085200" cy="2035800"/>
            </a:xfrm>
            <a:custGeom>
              <a:avLst/>
              <a:gdLst>
                <a:gd name="textAreaLeft" fmla="*/ 0 w 3085200"/>
                <a:gd name="textAreaRight" fmla="*/ 3086280 w 3085200"/>
                <a:gd name="textAreaTop" fmla="*/ 0 h 2035800"/>
                <a:gd name="textAreaBottom" fmla="*/ 2036880 h 2035800"/>
              </a:gdLst>
              <a:ahLst/>
              <a:rect l="textAreaLeft" t="textAreaTop" r="textAreaRight" b="textAreaBottom"/>
              <a:pathLst>
                <a:path w="635000" h="419100">
                  <a:moveTo>
                    <a:pt x="48997" y="0"/>
                  </a:moveTo>
                  <a:lnTo>
                    <a:pt x="586003" y="0"/>
                  </a:lnTo>
                  <a:cubicBezTo>
                    <a:pt x="598998" y="0"/>
                    <a:pt x="611460" y="5162"/>
                    <a:pt x="620649" y="14351"/>
                  </a:cubicBezTo>
                  <a:cubicBezTo>
                    <a:pt x="629838" y="23540"/>
                    <a:pt x="635000" y="36002"/>
                    <a:pt x="635000" y="48997"/>
                  </a:cubicBezTo>
                  <a:lnTo>
                    <a:pt x="635000" y="370103"/>
                  </a:lnTo>
                  <a:cubicBezTo>
                    <a:pt x="635000" y="383098"/>
                    <a:pt x="629838" y="395560"/>
                    <a:pt x="620649" y="404749"/>
                  </a:cubicBezTo>
                  <a:cubicBezTo>
                    <a:pt x="611460" y="413938"/>
                    <a:pt x="598998" y="419100"/>
                    <a:pt x="586003" y="419100"/>
                  </a:cubicBezTo>
                  <a:lnTo>
                    <a:pt x="48997" y="419100"/>
                  </a:lnTo>
                  <a:cubicBezTo>
                    <a:pt x="36002" y="419100"/>
                    <a:pt x="23540" y="413938"/>
                    <a:pt x="14351" y="404749"/>
                  </a:cubicBezTo>
                  <a:cubicBezTo>
                    <a:pt x="5162" y="395560"/>
                    <a:pt x="0" y="383098"/>
                    <a:pt x="0" y="370103"/>
                  </a:cubicBezTo>
                  <a:lnTo>
                    <a:pt x="0" y="48997"/>
                  </a:lnTo>
                  <a:cubicBezTo>
                    <a:pt x="0" y="36002"/>
                    <a:pt x="5162" y="23540"/>
                    <a:pt x="14351" y="14351"/>
                  </a:cubicBezTo>
                  <a:cubicBezTo>
                    <a:pt x="23540" y="5162"/>
                    <a:pt x="36002" y="0"/>
                    <a:pt x="48997" y="0"/>
                  </a:cubicBezTo>
                  <a:close/>
                </a:path>
              </a:pathLst>
            </a:custGeom>
            <a:solidFill>
              <a:srgbClr val="012130"/>
            </a:solid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Arial"/>
              </a:endParaRPr>
            </a:p>
          </p:txBody>
        </p:sp>
        <p:sp>
          <p:nvSpPr>
            <p:cNvPr id="72" name="TextBox 13"/>
            <p:cNvSpPr/>
            <p:nvPr/>
          </p:nvSpPr>
          <p:spPr>
            <a:xfrm>
              <a:off x="13951800" y="7211880"/>
              <a:ext cx="3085200" cy="1757880"/>
            </a:xfrm>
            <a:prstGeom prst="rect">
              <a:avLst/>
            </a:prstGeom>
            <a:noFill/>
            <a:ln w="0">
              <a:noFill/>
            </a:ln>
          </p:spPr>
          <p:style>
            <a:lnRef idx="0"/>
            <a:fillRef idx="0"/>
            <a:effectRef idx="0"/>
            <a:fontRef idx="minor"/>
          </p:style>
          <p:txBody>
            <a:bodyPr lIns="50760" rIns="50760" tIns="50760" bIns="50760" anchor="ctr">
              <a:noAutofit/>
            </a:bodyPr>
            <a:p>
              <a:pPr algn="ctr" defTabSz="914400">
                <a:lnSpc>
                  <a:spcPts val="2268"/>
                </a:lnSpc>
              </a:pPr>
              <a:r>
                <a:rPr b="1" lang="en-US" sz="2380" spc="-1" strike="noStrike">
                  <a:solidFill>
                    <a:srgbClr val="ffffff"/>
                  </a:solidFill>
                  <a:latin typeface="DM Sans Bold"/>
                  <a:ea typeface="DM Sans Bold"/>
                </a:rPr>
                <a:t>Regression/Classification</a:t>
              </a:r>
              <a:endParaRPr b="0" lang="en-US" sz="2380" spc="-1" strike="noStrike">
                <a:solidFill>
                  <a:srgbClr val="ffffff"/>
                </a:solidFill>
                <a:latin typeface="Arial"/>
              </a:endParaRPr>
            </a:p>
          </p:txBody>
        </p:sp>
      </p:grpSp>
      <p:sp>
        <p:nvSpPr>
          <p:cNvPr id="73" name="TextBox 14"/>
          <p:cNvSpPr/>
          <p:nvPr/>
        </p:nvSpPr>
        <p:spPr>
          <a:xfrm>
            <a:off x="0" y="885960"/>
            <a:ext cx="124218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DM Sans Bold"/>
                <a:ea typeface="DM Sans Bold"/>
              </a:rPr>
              <a:t>Pipeline &amp; Importantce</a:t>
            </a:r>
            <a:endParaRPr b="0" lang="en-US" sz="7600" spc="-1" strike="noStrike">
              <a:solidFill>
                <a:srgbClr val="ffffff"/>
              </a:solidFill>
              <a:latin typeface="Arial"/>
            </a:endParaRPr>
          </a:p>
        </p:txBody>
      </p:sp>
      <p:sp>
        <p:nvSpPr>
          <p:cNvPr id="74" name="AutoShape 15"/>
          <p:cNvSpPr/>
          <p:nvPr/>
        </p:nvSpPr>
        <p:spPr>
          <a:xfrm>
            <a:off x="3884040" y="8142120"/>
            <a:ext cx="1341360" cy="360"/>
          </a:xfrm>
          <a:prstGeom prst="line">
            <a:avLst/>
          </a:prstGeom>
          <a:ln w="38100">
            <a:solidFill>
              <a:srgbClr val="ffffff"/>
            </a:solidFill>
            <a:round/>
            <a:tailEnd len="sm" type="arrow"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75" name="AutoShape 16"/>
          <p:cNvSpPr/>
          <p:nvPr/>
        </p:nvSpPr>
        <p:spPr>
          <a:xfrm>
            <a:off x="8311320" y="7933320"/>
            <a:ext cx="1343160" cy="19080"/>
          </a:xfrm>
          <a:prstGeom prst="line">
            <a:avLst/>
          </a:prstGeom>
          <a:ln w="38100">
            <a:solidFill>
              <a:srgbClr val="ffffff"/>
            </a:solidFill>
            <a:round/>
            <a:tailEnd len="sm" type="arrow" w="med"/>
          </a:ln>
        </p:spPr>
        <p:style>
          <a:lnRef idx="0"/>
          <a:fillRef idx="0"/>
          <a:effectRef idx="0"/>
          <a:fontRef idx="minor"/>
        </p:style>
        <p:txBody>
          <a:bodyPr lIns="90000" rIns="90000" tIns="-25920" bIns="-25920" anchor="t" anchorCtr="1">
            <a:noAutofit/>
          </a:bodyPr>
          <a:p>
            <a:endParaRPr b="0" lang="en-US" sz="1800" spc="-1" strike="noStrike">
              <a:solidFill>
                <a:srgbClr val="ffffff"/>
              </a:solidFill>
              <a:latin typeface="Arial"/>
            </a:endParaRPr>
          </a:p>
        </p:txBody>
      </p:sp>
      <p:sp>
        <p:nvSpPr>
          <p:cNvPr id="76" name="AutoShape 17"/>
          <p:cNvSpPr/>
          <p:nvPr/>
        </p:nvSpPr>
        <p:spPr>
          <a:xfrm flipV="1">
            <a:off x="12740400" y="7914240"/>
            <a:ext cx="1211040" cy="38160"/>
          </a:xfrm>
          <a:prstGeom prst="line">
            <a:avLst/>
          </a:prstGeom>
          <a:ln w="38100">
            <a:solidFill>
              <a:srgbClr val="ffffff"/>
            </a:solidFill>
            <a:round/>
            <a:tailEnd len="sm" type="arrow" w="med"/>
          </a:ln>
        </p:spPr>
        <p:style>
          <a:lnRef idx="0"/>
          <a:fillRef idx="0"/>
          <a:effectRef idx="0"/>
          <a:fontRef idx="minor"/>
        </p:style>
        <p:txBody>
          <a:bodyPr lIns="90000" rIns="90000" tIns="-6840" bIns="-6840" anchor="t" anchorCtr="1">
            <a:noAutofit/>
          </a:bodyPr>
          <a:p>
            <a:endParaRPr b="0" lang="en-US" sz="1800" spc="-1" strike="noStrike">
              <a:solidFill>
                <a:srgbClr val="ffffff"/>
              </a:solidFill>
              <a:latin typeface="Arial"/>
            </a:endParaRPr>
          </a:p>
        </p:txBody>
      </p:sp>
      <p:sp>
        <p:nvSpPr>
          <p:cNvPr id="77" name="TextBox 18"/>
          <p:cNvSpPr/>
          <p:nvPr/>
        </p:nvSpPr>
        <p:spPr>
          <a:xfrm>
            <a:off x="1028880" y="2792520"/>
            <a:ext cx="13540680" cy="3520440"/>
          </a:xfrm>
          <a:prstGeom prst="rect">
            <a:avLst/>
          </a:prstGeom>
          <a:noFill/>
          <a:ln w="0">
            <a:noFill/>
          </a:ln>
        </p:spPr>
        <p:style>
          <a:lnRef idx="0"/>
          <a:fillRef idx="0"/>
          <a:effectRef idx="0"/>
          <a:fontRef idx="minor"/>
        </p:style>
        <p:txBody>
          <a:bodyPr lIns="0" rIns="0" tIns="0" bIns="0" anchor="t">
            <a:spAutoFit/>
          </a:bodyPr>
          <a:p>
            <a:pPr lvl="1" marL="712440" indent="-356400" algn="just" defTabSz="914400">
              <a:lnSpc>
                <a:spcPts val="4620"/>
              </a:lnSpc>
              <a:buClr>
                <a:srgbClr val="ffffff"/>
              </a:buClr>
              <a:buFont typeface="Arial"/>
              <a:buChar char="•"/>
            </a:pPr>
            <a:r>
              <a:rPr b="1" lang="en-US" sz="3300" spc="-1" strike="noStrike">
                <a:solidFill>
                  <a:srgbClr val="ffffff"/>
                </a:solidFill>
                <a:latin typeface="DM Sans Bold"/>
                <a:ea typeface="DM Sans Bold"/>
              </a:rPr>
              <a:t>Helps improve short-term weather forecasts.</a:t>
            </a:r>
            <a:endParaRPr b="0" lang="en-US" sz="3300" spc="-1" strike="noStrike">
              <a:solidFill>
                <a:srgbClr val="ffffff"/>
              </a:solidFill>
              <a:latin typeface="Arial"/>
            </a:endParaRPr>
          </a:p>
          <a:p>
            <a:pPr lvl="1" marL="712440" indent="-356400" algn="just" defTabSz="914400">
              <a:lnSpc>
                <a:spcPts val="4620"/>
              </a:lnSpc>
              <a:buClr>
                <a:srgbClr val="ffffff"/>
              </a:buClr>
              <a:buFont typeface="Arial"/>
              <a:buChar char="•"/>
            </a:pPr>
            <a:r>
              <a:rPr b="1" lang="en-US" sz="3300" spc="-1" strike="noStrike">
                <a:solidFill>
                  <a:srgbClr val="ffffff"/>
                </a:solidFill>
                <a:latin typeface="DM Sans Bold"/>
                <a:ea typeface="DM Sans Bold"/>
              </a:rPr>
              <a:t>Enables better planning for outdoor events and transportation.</a:t>
            </a:r>
            <a:endParaRPr b="0" lang="en-US" sz="3300" spc="-1" strike="noStrike">
              <a:solidFill>
                <a:srgbClr val="ffffff"/>
              </a:solidFill>
              <a:latin typeface="Arial"/>
            </a:endParaRPr>
          </a:p>
          <a:p>
            <a:pPr lvl="1" marL="712440" indent="-356400" algn="just" defTabSz="914400">
              <a:lnSpc>
                <a:spcPts val="4620"/>
              </a:lnSpc>
              <a:buClr>
                <a:srgbClr val="ffffff"/>
              </a:buClr>
              <a:buFont typeface="Arial"/>
              <a:buChar char="•"/>
            </a:pPr>
            <a:r>
              <a:rPr b="1" lang="en-US" sz="3300" spc="-1" strike="noStrike">
                <a:solidFill>
                  <a:srgbClr val="ffffff"/>
                </a:solidFill>
                <a:latin typeface="DM Sans Bold"/>
                <a:ea typeface="DM Sans Bold"/>
              </a:rPr>
              <a:t>Demonstrates the effectiveness of sequence-based deep learning in time-series applications.</a:t>
            </a:r>
            <a:endParaRPr b="0" lang="en-US" sz="3300" spc="-1" strike="noStrike">
              <a:solidFill>
                <a:srgbClr val="ffffff"/>
              </a:solidFill>
              <a:latin typeface="Arial"/>
            </a:endParaRPr>
          </a:p>
          <a:p>
            <a:pPr algn="just" defTabSz="914400">
              <a:lnSpc>
                <a:spcPts val="4620"/>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78" name="TextBox 2"/>
          <p:cNvSpPr/>
          <p:nvPr/>
        </p:nvSpPr>
        <p:spPr>
          <a:xfrm>
            <a:off x="1028880" y="885960"/>
            <a:ext cx="94860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DM Sans Bold"/>
                <a:ea typeface="DM Sans Bold"/>
              </a:rPr>
              <a:t>Data Collection</a:t>
            </a:r>
            <a:endParaRPr b="0" lang="en-US" sz="7600" spc="-1" strike="noStrike">
              <a:solidFill>
                <a:srgbClr val="ffffff"/>
              </a:solidFill>
              <a:latin typeface="Arial"/>
            </a:endParaRPr>
          </a:p>
        </p:txBody>
      </p:sp>
      <p:sp>
        <p:nvSpPr>
          <p:cNvPr id="79" name="TextBox 3"/>
          <p:cNvSpPr/>
          <p:nvPr/>
        </p:nvSpPr>
        <p:spPr>
          <a:xfrm>
            <a:off x="1028880" y="2286000"/>
            <a:ext cx="10226520" cy="240840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1" lang="en-US" sz="4000" spc="-1" strike="noStrike">
                <a:solidFill>
                  <a:srgbClr val="ffffff"/>
                </a:solidFill>
                <a:latin typeface="DM Sans Bold"/>
                <a:ea typeface="DM Sans Bold"/>
              </a:rPr>
              <a:t>Source:</a:t>
            </a:r>
            <a:endParaRPr b="0" lang="en-US" sz="4000" spc="-1" strike="noStrike">
              <a:solidFill>
                <a:srgbClr val="ffffff"/>
              </a:solidFill>
              <a:latin typeface="Arial"/>
            </a:endParaRPr>
          </a:p>
          <a:p>
            <a:pPr lvl="1" marL="515160" indent="-257760" algn="just" defTabSz="914400">
              <a:lnSpc>
                <a:spcPts val="3342"/>
              </a:lnSpc>
              <a:buClr>
                <a:srgbClr val="ffffff"/>
              </a:buClr>
              <a:buFont typeface="Arial"/>
              <a:buChar char="•"/>
            </a:pPr>
            <a:r>
              <a:rPr b="1" lang="en-US" sz="2380" spc="-1" strike="noStrike">
                <a:solidFill>
                  <a:srgbClr val="ffffff"/>
                </a:solidFill>
                <a:latin typeface="DM Sans Bold"/>
                <a:ea typeface="DM Sans Bold"/>
              </a:rPr>
              <a:t>Data collected from Weather Underground API for Amman, Jordan.</a:t>
            </a:r>
            <a:endParaRPr b="0" lang="en-US" sz="2380" spc="-1" strike="noStrike">
              <a:solidFill>
                <a:srgbClr val="ffffff"/>
              </a:solidFill>
              <a:latin typeface="Arial"/>
            </a:endParaRPr>
          </a:p>
          <a:p>
            <a:pPr lvl="1" marL="515160" indent="-257760" algn="just" defTabSz="914400">
              <a:lnSpc>
                <a:spcPts val="3342"/>
              </a:lnSpc>
              <a:buClr>
                <a:srgbClr val="ffffff"/>
              </a:buClr>
              <a:buFont typeface="Arial"/>
              <a:buChar char="•"/>
            </a:pPr>
            <a:r>
              <a:rPr b="1" lang="en-US" sz="2380" spc="-1" strike="noStrike">
                <a:solidFill>
                  <a:srgbClr val="ffffff"/>
                </a:solidFill>
                <a:latin typeface="DM Sans Bold"/>
                <a:ea typeface="DM Sans Bold"/>
              </a:rPr>
              <a:t>Dataset contains hourly measurements from 2010 to 2025.</a:t>
            </a:r>
            <a:endParaRPr b="0" lang="en-US" sz="2380" spc="-1" strike="noStrike">
              <a:solidFill>
                <a:srgbClr val="ffffff"/>
              </a:solidFill>
              <a:latin typeface="Arial"/>
            </a:endParaRPr>
          </a:p>
          <a:p>
            <a:pPr algn="just" defTabSz="914400">
              <a:lnSpc>
                <a:spcPts val="3342"/>
              </a:lnSpc>
            </a:pPr>
            <a:endParaRPr b="0" lang="en-US" sz="1800" spc="-1" strike="noStrike">
              <a:solidFill>
                <a:srgbClr val="ffffff"/>
              </a:solidFill>
              <a:latin typeface="Arial"/>
            </a:endParaRPr>
          </a:p>
        </p:txBody>
      </p:sp>
      <p:sp>
        <p:nvSpPr>
          <p:cNvPr id="80" name="TextBox 4"/>
          <p:cNvSpPr/>
          <p:nvPr/>
        </p:nvSpPr>
        <p:spPr>
          <a:xfrm>
            <a:off x="1148040" y="3992400"/>
            <a:ext cx="11046240" cy="4955040"/>
          </a:xfrm>
          <a:prstGeom prst="rect">
            <a:avLst/>
          </a:prstGeom>
          <a:noFill/>
          <a:ln w="0">
            <a:noFill/>
          </a:ln>
        </p:spPr>
        <p:style>
          <a:lnRef idx="0"/>
          <a:fillRef idx="0"/>
          <a:effectRef idx="0"/>
          <a:fontRef idx="minor"/>
        </p:style>
        <p:txBody>
          <a:bodyPr lIns="0" rIns="0" tIns="0" bIns="0" anchor="t">
            <a:spAutoFit/>
          </a:bodyPr>
          <a:p>
            <a:pPr defTabSz="914400">
              <a:lnSpc>
                <a:spcPts val="5598"/>
              </a:lnSpc>
            </a:pPr>
            <a:r>
              <a:rPr b="1" lang="en-US" sz="4000" spc="-1" strike="noStrike">
                <a:solidFill>
                  <a:srgbClr val="ffffff"/>
                </a:solidFill>
                <a:latin typeface="DM Sans Bold"/>
                <a:ea typeface="DM Sans Bold"/>
              </a:rPr>
              <a:t>Features:</a:t>
            </a:r>
            <a:endParaRPr b="0" lang="en-US" sz="400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Temperature (°C) – Target for regression</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Dew Point (°C)</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Wind Speed (mi/h)</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Wind Direction (deg)</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Gust</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Pressure (hPa)</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Weather Condition (Sunny, Cloudy, Rainy, etc.) – Target for classification</a:t>
            </a:r>
            <a:endParaRPr b="0" lang="en-US" sz="2380" spc="-1" strike="noStrike">
              <a:solidFill>
                <a:srgbClr val="ffffff"/>
              </a:solidFill>
              <a:latin typeface="Arial"/>
            </a:endParaRPr>
          </a:p>
          <a:p>
            <a:pPr defTabSz="914400">
              <a:lnSpc>
                <a:spcPts val="3342"/>
              </a:lnSpc>
            </a:pPr>
            <a:endParaRPr b="0" lang="en-US" sz="1800" spc="-1" strike="noStrike">
              <a:solidFill>
                <a:srgbClr val="ffffff"/>
              </a:solidFill>
              <a:latin typeface="Arial"/>
            </a:endParaRPr>
          </a:p>
          <a:p>
            <a:pPr defTabSz="914400">
              <a:lnSpc>
                <a:spcPts val="3342"/>
              </a:lnSpc>
            </a:pPr>
            <a:endParaRPr b="0" lang="en-US" sz="1800" spc="-1" strike="noStrike">
              <a:solidFill>
                <a:srgbClr val="ffffff"/>
              </a:solidFill>
              <a:latin typeface="Arial"/>
            </a:endParaRPr>
          </a:p>
        </p:txBody>
      </p:sp>
      <p:sp>
        <p:nvSpPr>
          <p:cNvPr id="81" name="TextBox 5"/>
          <p:cNvSpPr/>
          <p:nvPr/>
        </p:nvSpPr>
        <p:spPr>
          <a:xfrm>
            <a:off x="1028880" y="7948800"/>
            <a:ext cx="7419600" cy="2408400"/>
          </a:xfrm>
          <a:prstGeom prst="rect">
            <a:avLst/>
          </a:prstGeom>
          <a:noFill/>
          <a:ln w="0">
            <a:noFill/>
          </a:ln>
        </p:spPr>
        <p:style>
          <a:lnRef idx="0"/>
          <a:fillRef idx="0"/>
          <a:effectRef idx="0"/>
          <a:fontRef idx="minor"/>
        </p:style>
        <p:txBody>
          <a:bodyPr lIns="0" rIns="0" tIns="0" bIns="0" anchor="t">
            <a:spAutoFit/>
          </a:bodyPr>
          <a:p>
            <a:pPr algn="just" defTabSz="914400">
              <a:lnSpc>
                <a:spcPts val="5598"/>
              </a:lnSpc>
            </a:pPr>
            <a:r>
              <a:rPr b="1" lang="en-US" sz="4000" spc="-1" strike="noStrike">
                <a:solidFill>
                  <a:srgbClr val="ffffff"/>
                </a:solidFill>
                <a:latin typeface="DM Sans Bold"/>
                <a:ea typeface="DM Sans Bold"/>
              </a:rPr>
              <a:t>Data Size:</a:t>
            </a:r>
            <a:endParaRPr b="0" lang="en-US" sz="4000" spc="-1" strike="noStrike">
              <a:solidFill>
                <a:srgbClr val="ffffff"/>
              </a:solidFill>
              <a:latin typeface="Arial"/>
            </a:endParaRPr>
          </a:p>
          <a:p>
            <a:pPr lvl="1" marL="515160" indent="-257760" algn="just" defTabSz="914400">
              <a:lnSpc>
                <a:spcPts val="3342"/>
              </a:lnSpc>
              <a:buClr>
                <a:srgbClr val="ffffff"/>
              </a:buClr>
              <a:buFont typeface="Arial"/>
              <a:buChar char="•"/>
            </a:pPr>
            <a:r>
              <a:rPr b="1" lang="en-US" sz="2380" spc="-1" strike="noStrike">
                <a:solidFill>
                  <a:srgbClr val="ffffff"/>
                </a:solidFill>
                <a:latin typeface="DM Sans Bold"/>
                <a:ea typeface="DM Sans Bold"/>
              </a:rPr>
              <a:t>Total rows: ~140,000+ (hourly data for 15 years)</a:t>
            </a:r>
            <a:endParaRPr b="0" lang="en-US" sz="2380" spc="-1" strike="noStrike">
              <a:solidFill>
                <a:srgbClr val="ffffff"/>
              </a:solidFill>
              <a:latin typeface="Arial"/>
            </a:endParaRPr>
          </a:p>
          <a:p>
            <a:pPr lvl="1" marL="515160" indent="-257760" algn="just" defTabSz="914400">
              <a:lnSpc>
                <a:spcPts val="3342"/>
              </a:lnSpc>
              <a:buClr>
                <a:srgbClr val="ffffff"/>
              </a:buClr>
              <a:buFont typeface="Arial"/>
              <a:buChar char="•"/>
            </a:pPr>
            <a:r>
              <a:rPr b="1" lang="en-US" sz="2380" spc="-1" strike="noStrike">
                <a:solidFill>
                  <a:srgbClr val="ffffff"/>
                </a:solidFill>
                <a:latin typeface="DM Sans Bold"/>
                <a:ea typeface="DM Sans Bold"/>
              </a:rPr>
              <a:t>Columns: 7 main features + datetime</a:t>
            </a:r>
            <a:endParaRPr b="0" lang="en-US" sz="2380" spc="-1" strike="noStrike">
              <a:solidFill>
                <a:srgbClr val="ffffff"/>
              </a:solidFill>
              <a:latin typeface="Arial"/>
            </a:endParaRPr>
          </a:p>
          <a:p>
            <a:pPr algn="just" defTabSz="914400">
              <a:lnSpc>
                <a:spcPts val="3342"/>
              </a:lnSpc>
            </a:pP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361b70"/>
            </a:gs>
            <a:gs pos="100000">
              <a:srgbClr val="000000"/>
            </a:gs>
          </a:gsLst>
          <a:lin ang="0"/>
        </a:gradFill>
      </p:bgPr>
    </p:bg>
    <p:spTree>
      <p:nvGrpSpPr>
        <p:cNvPr id="1" name=""/>
        <p:cNvGrpSpPr/>
        <p:nvPr/>
      </p:nvGrpSpPr>
      <p:grpSpPr>
        <a:xfrm>
          <a:off x="0" y="0"/>
          <a:ext cx="0" cy="0"/>
          <a:chOff x="0" y="0"/>
          <a:chExt cx="0" cy="0"/>
        </a:xfrm>
      </p:grpSpPr>
      <p:sp>
        <p:nvSpPr>
          <p:cNvPr id="82" name="Freeform 2"/>
          <p:cNvSpPr/>
          <p:nvPr/>
        </p:nvSpPr>
        <p:spPr>
          <a:xfrm>
            <a:off x="1371600" y="5943600"/>
            <a:ext cx="13192560" cy="4320000"/>
          </a:xfrm>
          <a:custGeom>
            <a:avLst/>
            <a:gdLst>
              <a:gd name="textAreaLeft" fmla="*/ 0 w 13192560"/>
              <a:gd name="textAreaRight" fmla="*/ 13193640 w 13192560"/>
              <a:gd name="textAreaTop" fmla="*/ 0 h 4320000"/>
              <a:gd name="textAreaBottom" fmla="*/ 4321080 h 4320000"/>
            </a:gdLst>
            <a:ahLst/>
            <a:rect l="textAreaLeft" t="textAreaTop" r="textAreaRight" b="textAreaBottom"/>
            <a:pathLst>
              <a:path w="13193792" h="4320967">
                <a:moveTo>
                  <a:pt x="0" y="0"/>
                </a:moveTo>
                <a:lnTo>
                  <a:pt x="13193792" y="0"/>
                </a:lnTo>
                <a:lnTo>
                  <a:pt x="13193792" y="4320967"/>
                </a:lnTo>
                <a:lnTo>
                  <a:pt x="0" y="4320967"/>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3" name="TextBox 3"/>
          <p:cNvSpPr/>
          <p:nvPr/>
        </p:nvSpPr>
        <p:spPr>
          <a:xfrm>
            <a:off x="0" y="885960"/>
            <a:ext cx="1113336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DM Sans Bold"/>
                <a:ea typeface="DM Sans Bold"/>
              </a:rPr>
              <a:t>Data Collection - Cont</a:t>
            </a:r>
            <a:endParaRPr b="0" lang="en-US" sz="7600" spc="-1" strike="noStrike">
              <a:solidFill>
                <a:srgbClr val="ffffff"/>
              </a:solidFill>
              <a:latin typeface="Arial"/>
            </a:endParaRPr>
          </a:p>
        </p:txBody>
      </p:sp>
      <p:sp>
        <p:nvSpPr>
          <p:cNvPr id="84" name="TextBox 4"/>
          <p:cNvSpPr/>
          <p:nvPr/>
        </p:nvSpPr>
        <p:spPr>
          <a:xfrm>
            <a:off x="1028880" y="2583360"/>
            <a:ext cx="14655960" cy="2667240"/>
          </a:xfrm>
          <a:prstGeom prst="rect">
            <a:avLst/>
          </a:prstGeom>
          <a:noFill/>
          <a:ln w="0">
            <a:noFill/>
          </a:ln>
        </p:spPr>
        <p:style>
          <a:lnRef idx="0"/>
          <a:fillRef idx="0"/>
          <a:effectRef idx="0"/>
          <a:fontRef idx="minor"/>
        </p:style>
        <p:txBody>
          <a:bodyPr lIns="0" rIns="0" tIns="0" bIns="0" anchor="t">
            <a:spAutoFit/>
          </a:bodyPr>
          <a:p>
            <a:pPr defTabSz="914400">
              <a:lnSpc>
                <a:spcPts val="4201"/>
              </a:lnSpc>
            </a:pPr>
            <a:r>
              <a:rPr b="0" lang="en-US" sz="3000" spc="-1" strike="noStrike">
                <a:solidFill>
                  <a:srgbClr val="ffffff"/>
                </a:solidFill>
                <a:latin typeface="DM Sans"/>
                <a:ea typeface="DM Sans"/>
              </a:rPr>
              <a:t>Data Reliability:</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0" lang="en-US" sz="3000" spc="-1" strike="noStrike">
                <a:solidFill>
                  <a:srgbClr val="ffffff"/>
                </a:solidFill>
                <a:latin typeface="DM Sans"/>
                <a:ea typeface="DM Sans"/>
              </a:rPr>
              <a:t>Official weather API ensures high credibility.</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0" lang="en-US" sz="3000" spc="-1" strike="noStrike">
                <a:solidFill>
                  <a:srgbClr val="ffffff"/>
                </a:solidFill>
                <a:latin typeface="DM Sans"/>
                <a:ea typeface="DM Sans"/>
              </a:rPr>
              <a:t>Continuous hourly measurements allow capturing temporal patterns accurately.</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0" lang="en-US" sz="3000" spc="-1" strike="noStrike">
                <a:solidFill>
                  <a:srgbClr val="ffffff"/>
                </a:solidFill>
                <a:latin typeface="DM Sans"/>
                <a:ea typeface="DM Sans"/>
              </a:rPr>
              <a:t>https://www.wunderground.com</a:t>
            </a:r>
            <a:endParaRPr b="0" lang="en-US" sz="3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85" name="TextBox 2"/>
          <p:cNvSpPr/>
          <p:nvPr/>
        </p:nvSpPr>
        <p:spPr>
          <a:xfrm>
            <a:off x="1028880" y="885960"/>
            <a:ext cx="161154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Canva Sans Bold"/>
                <a:ea typeface="Canva Sans Bold"/>
              </a:rPr>
              <a:t>Data Preprocessing &amp; Cleaning</a:t>
            </a:r>
            <a:endParaRPr b="0" lang="en-US" sz="7600" spc="-1" strike="noStrike">
              <a:solidFill>
                <a:srgbClr val="ffffff"/>
              </a:solidFill>
              <a:latin typeface="Arial"/>
            </a:endParaRPr>
          </a:p>
        </p:txBody>
      </p:sp>
      <p:sp>
        <p:nvSpPr>
          <p:cNvPr id="86" name="TextBox 3"/>
          <p:cNvSpPr/>
          <p:nvPr/>
        </p:nvSpPr>
        <p:spPr>
          <a:xfrm>
            <a:off x="1028880" y="2112120"/>
            <a:ext cx="9793080" cy="8035920"/>
          </a:xfrm>
          <a:prstGeom prst="rect">
            <a:avLst/>
          </a:prstGeom>
          <a:noFill/>
          <a:ln w="0">
            <a:noFill/>
          </a:ln>
        </p:spPr>
        <p:style>
          <a:lnRef idx="0"/>
          <a:fillRef idx="0"/>
          <a:effectRef idx="0"/>
          <a:fontRef idx="minor"/>
        </p:style>
        <p:txBody>
          <a:bodyPr lIns="0" rIns="0" tIns="0" bIns="0" anchor="t">
            <a:spAutoFit/>
          </a:bodyPr>
          <a:p>
            <a:pPr defTabSz="914400">
              <a:lnSpc>
                <a:spcPts val="4354"/>
              </a:lnSpc>
            </a:pPr>
            <a:r>
              <a:rPr b="1" lang="en-US" sz="3110" spc="-1" strike="noStrike">
                <a:solidFill>
                  <a:srgbClr val="ffffff"/>
                </a:solidFill>
                <a:latin typeface="DM Sans Bold"/>
                <a:ea typeface="DM Sans Bold"/>
              </a:rPr>
              <a:t>Steps Taken:</a:t>
            </a:r>
            <a:endParaRPr b="0" lang="en-US" sz="3110" spc="-1" strike="noStrike">
              <a:solidFill>
                <a:srgbClr val="ffffff"/>
              </a:solidFill>
              <a:latin typeface="Arial"/>
            </a:endParaRPr>
          </a:p>
          <a:p>
            <a:pPr defTabSz="914400">
              <a:lnSpc>
                <a:spcPts val="3773"/>
              </a:lnSpc>
            </a:pPr>
            <a:endParaRPr b="0" lang="en-US" sz="1800" spc="-1" strike="noStrike">
              <a:solidFill>
                <a:srgbClr val="ffffff"/>
              </a:solidFill>
              <a:latin typeface="Arial"/>
            </a:endParaRPr>
          </a:p>
          <a:p>
            <a:pPr lvl="1" marL="447480" indent="-223920" defTabSz="914400">
              <a:lnSpc>
                <a:spcPts val="2903"/>
              </a:lnSpc>
              <a:buClr>
                <a:srgbClr val="ffffff"/>
              </a:buClr>
              <a:buFont typeface="OpenSymbol"/>
              <a:buAutoNum type="arabicPeriod"/>
            </a:pPr>
            <a:r>
              <a:rPr b="1" lang="en-US" sz="2070" spc="-1" strike="noStrike">
                <a:solidFill>
                  <a:srgbClr val="ffffff"/>
                </a:solidFill>
                <a:latin typeface="DM Sans Bold"/>
                <a:ea typeface="DM Sans Bold"/>
              </a:rPr>
              <a:t>Collapsing Collected Daily Data into Hourly Data</a:t>
            </a:r>
            <a:endParaRPr b="0" lang="en-US" sz="2070" spc="-1" strike="noStrike">
              <a:solidFill>
                <a:srgbClr val="ffffff"/>
              </a:solidFill>
              <a:latin typeface="Arial"/>
            </a:endParaRPr>
          </a:p>
          <a:p>
            <a:pPr lvl="1" marL="447480" indent="-223920" defTabSz="914400">
              <a:lnSpc>
                <a:spcPts val="2903"/>
              </a:lnSpc>
              <a:buClr>
                <a:srgbClr val="ffffff"/>
              </a:buClr>
              <a:buFont typeface="OpenSymbol"/>
              <a:buAutoNum type="arabicPeriod"/>
            </a:pPr>
            <a:r>
              <a:rPr b="1" lang="en-US" sz="2070" spc="-1" strike="noStrike">
                <a:solidFill>
                  <a:srgbClr val="ffffff"/>
                </a:solidFill>
                <a:latin typeface="DM Sans Bold"/>
                <a:ea typeface="DM Sans Bold"/>
              </a:rPr>
              <a:t>Handling Missing Values</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Checked for null or missing entries in each column.</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Filled missing temperature values using forward-fill method.</a:t>
            </a:r>
            <a:endParaRPr b="0" lang="en-US" sz="2070" spc="-1" strike="noStrike">
              <a:solidFill>
                <a:srgbClr val="ffffff"/>
              </a:solidFill>
              <a:latin typeface="Arial"/>
            </a:endParaRPr>
          </a:p>
          <a:p>
            <a:pPr lvl="1" marL="447480" indent="-223920" defTabSz="914400">
              <a:lnSpc>
                <a:spcPts val="2903"/>
              </a:lnSpc>
              <a:buClr>
                <a:srgbClr val="ffffff"/>
              </a:buClr>
              <a:buFont typeface="OpenSymbol"/>
              <a:buAutoNum type="arabicPeriod"/>
            </a:pPr>
            <a:r>
              <a:rPr b="1" lang="en-US" sz="2070" spc="-1" strike="noStrike">
                <a:solidFill>
                  <a:srgbClr val="ffffff"/>
                </a:solidFill>
                <a:latin typeface="DM Sans Bold"/>
                <a:ea typeface="DM Sans Bold"/>
              </a:rPr>
              <a:t>Removing Duplicates</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Ensured no duplicate datetime entries exist.</a:t>
            </a:r>
            <a:endParaRPr b="0" lang="en-US" sz="2070" spc="-1" strike="noStrike">
              <a:solidFill>
                <a:srgbClr val="ffffff"/>
              </a:solidFill>
              <a:latin typeface="Arial"/>
            </a:endParaRPr>
          </a:p>
          <a:p>
            <a:pPr lvl="1" marL="447480" indent="-223920" defTabSz="914400">
              <a:lnSpc>
                <a:spcPts val="2903"/>
              </a:lnSpc>
              <a:buClr>
                <a:srgbClr val="ffffff"/>
              </a:buClr>
              <a:buFont typeface="OpenSymbol"/>
              <a:buAutoNum type="arabicPeriod"/>
            </a:pPr>
            <a:r>
              <a:rPr b="1" lang="en-US" sz="2070" spc="-1" strike="noStrike">
                <a:solidFill>
                  <a:srgbClr val="ffffff"/>
                </a:solidFill>
                <a:latin typeface="DM Sans Bold"/>
                <a:ea typeface="DM Sans Bold"/>
              </a:rPr>
              <a:t>Correct Data Types</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Converted Datetime column to datetime type for easier manipulation.</a:t>
            </a:r>
            <a:endParaRPr b="0" lang="en-US" sz="2070" spc="-1" strike="noStrike">
              <a:solidFill>
                <a:srgbClr val="ffffff"/>
              </a:solidFill>
              <a:latin typeface="Arial"/>
            </a:endParaRPr>
          </a:p>
          <a:p>
            <a:pPr lvl="1" marL="447480" indent="-223920" defTabSz="914400">
              <a:lnSpc>
                <a:spcPts val="2903"/>
              </a:lnSpc>
              <a:buClr>
                <a:srgbClr val="ffffff"/>
              </a:buClr>
              <a:buFont typeface="OpenSymbol"/>
              <a:buAutoNum type="arabicPeriod"/>
            </a:pPr>
            <a:r>
              <a:rPr b="1" lang="en-US" sz="2070" spc="-1" strike="noStrike">
                <a:solidFill>
                  <a:srgbClr val="ffffff"/>
                </a:solidFill>
                <a:latin typeface="DM Sans Bold"/>
                <a:ea typeface="DM Sans Bold"/>
              </a:rPr>
              <a:t>Sorting Data</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Sorted dataset by datetime to maintain temporal order.</a:t>
            </a:r>
            <a:endParaRPr b="0" lang="en-US" sz="2070" spc="-1" strike="noStrike">
              <a:solidFill>
                <a:srgbClr val="ffffff"/>
              </a:solidFill>
              <a:latin typeface="Arial"/>
            </a:endParaRPr>
          </a:p>
          <a:p>
            <a:pPr lvl="1" marL="447480" indent="-223920" defTabSz="914400">
              <a:lnSpc>
                <a:spcPts val="2903"/>
              </a:lnSpc>
              <a:buClr>
                <a:srgbClr val="ffffff"/>
              </a:buClr>
              <a:buFont typeface="OpenSymbol"/>
              <a:buAutoNum type="arabicPeriod"/>
            </a:pPr>
            <a:r>
              <a:rPr b="1" lang="en-US" sz="2070" spc="-1" strike="noStrike">
                <a:solidFill>
                  <a:srgbClr val="ffffff"/>
                </a:solidFill>
                <a:latin typeface="DM Sans Bold"/>
                <a:ea typeface="DM Sans Bold"/>
              </a:rPr>
              <a:t>EDA</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Visalization</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Data Cleanup</a:t>
            </a:r>
            <a:endParaRPr b="0" lang="en-US" sz="2070" spc="-1" strike="noStrike">
              <a:solidFill>
                <a:srgbClr val="ffffff"/>
              </a:solidFill>
              <a:latin typeface="Arial"/>
            </a:endParaRPr>
          </a:p>
          <a:p>
            <a:pPr lvl="1" marL="447480" indent="-223920" defTabSz="914400">
              <a:lnSpc>
                <a:spcPts val="2903"/>
              </a:lnSpc>
              <a:buClr>
                <a:srgbClr val="ffffff"/>
              </a:buClr>
              <a:buFont typeface="OpenSymbol"/>
              <a:buAutoNum type="arabicPeriod"/>
            </a:pPr>
            <a:r>
              <a:rPr b="1" lang="en-US" sz="2070" spc="-1" strike="noStrike">
                <a:solidFill>
                  <a:srgbClr val="ffffff"/>
                </a:solidFill>
                <a:latin typeface="DM Sans Bold"/>
                <a:ea typeface="DM Sans Bold"/>
              </a:rPr>
              <a:t>Data Preprocessing</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Handling Outliers in Temperature and Wind Speed</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One-Hot encoding Categorical Data</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Normalization (MinMax)</a:t>
            </a:r>
            <a:endParaRPr b="0" lang="en-US" sz="2070" spc="-1" strike="noStrike">
              <a:solidFill>
                <a:srgbClr val="ffffff"/>
              </a:solidFill>
              <a:latin typeface="Arial"/>
            </a:endParaRPr>
          </a:p>
          <a:p>
            <a:pPr lvl="2" marL="894960" indent="-298440" defTabSz="914400">
              <a:lnSpc>
                <a:spcPts val="2903"/>
              </a:lnSpc>
              <a:buClr>
                <a:srgbClr val="ffffff"/>
              </a:buClr>
              <a:buFont typeface="OpenSymbol"/>
              <a:buAutoNum type="alphaLcPeriod"/>
            </a:pPr>
            <a:r>
              <a:rPr b="1" lang="en-US" sz="2070" spc="-1" strike="noStrike">
                <a:solidFill>
                  <a:srgbClr val="ffffff"/>
                </a:solidFill>
                <a:latin typeface="DM Sans Bold"/>
                <a:ea typeface="DM Sans Bold"/>
              </a:rPr>
              <a:t>Wind Direction (degrees → sine and cosine)</a:t>
            </a:r>
            <a:endParaRPr b="0" lang="en-US" sz="20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361b70"/>
            </a:gs>
            <a:gs pos="100000">
              <a:srgbClr val="000000"/>
            </a:gs>
          </a:gsLst>
          <a:lin ang="0"/>
        </a:gradFill>
      </p:bgPr>
    </p:bg>
    <p:spTree>
      <p:nvGrpSpPr>
        <p:cNvPr id="1" name=""/>
        <p:cNvGrpSpPr/>
        <p:nvPr/>
      </p:nvGrpSpPr>
      <p:grpSpPr>
        <a:xfrm>
          <a:off x="0" y="0"/>
          <a:ext cx="0" cy="0"/>
          <a:chOff x="0" y="0"/>
          <a:chExt cx="0" cy="0"/>
        </a:xfrm>
      </p:grpSpPr>
      <p:sp>
        <p:nvSpPr>
          <p:cNvPr id="87" name="Freeform 2"/>
          <p:cNvSpPr/>
          <p:nvPr/>
        </p:nvSpPr>
        <p:spPr>
          <a:xfrm>
            <a:off x="189720" y="2756160"/>
            <a:ext cx="6422040" cy="3451320"/>
          </a:xfrm>
          <a:custGeom>
            <a:avLst/>
            <a:gdLst>
              <a:gd name="textAreaLeft" fmla="*/ 0 w 6422040"/>
              <a:gd name="textAreaRight" fmla="*/ 6423120 w 6422040"/>
              <a:gd name="textAreaTop" fmla="*/ 0 h 3451320"/>
              <a:gd name="textAreaBottom" fmla="*/ 3452400 h 3451320"/>
            </a:gdLst>
            <a:ahLst/>
            <a:rect l="textAreaLeft" t="textAreaTop" r="textAreaRight" b="textAreaBottom"/>
            <a:pathLst>
              <a:path w="6423186" h="3452462">
                <a:moveTo>
                  <a:pt x="0" y="0"/>
                </a:moveTo>
                <a:lnTo>
                  <a:pt x="6423186" y="0"/>
                </a:lnTo>
                <a:lnTo>
                  <a:pt x="6423186" y="3452462"/>
                </a:lnTo>
                <a:lnTo>
                  <a:pt x="0" y="3452462"/>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88" name="AutoShape 3"/>
          <p:cNvSpPr/>
          <p:nvPr/>
        </p:nvSpPr>
        <p:spPr>
          <a:xfrm>
            <a:off x="6612480" y="4273920"/>
            <a:ext cx="3835800" cy="59760"/>
          </a:xfrm>
          <a:prstGeom prst="line">
            <a:avLst/>
          </a:prstGeom>
          <a:ln w="38100">
            <a:solidFill>
              <a:srgbClr val="ffffff"/>
            </a:solidFill>
            <a:round/>
            <a:tailEnd len="sm" type="arrow" w="med"/>
          </a:ln>
        </p:spPr>
        <p:style>
          <a:lnRef idx="0"/>
          <a:fillRef idx="0"/>
          <a:effectRef idx="0"/>
          <a:fontRef idx="minor"/>
        </p:style>
        <p:txBody>
          <a:bodyPr lIns="90000" rIns="90000" tIns="14760" bIns="14760" anchor="t" anchorCtr="1">
            <a:noAutofit/>
          </a:bodyPr>
          <a:p>
            <a:endParaRPr b="0" lang="en-US" sz="1800" spc="-1" strike="noStrike">
              <a:solidFill>
                <a:srgbClr val="ffffff"/>
              </a:solidFill>
              <a:latin typeface="Arial"/>
            </a:endParaRPr>
          </a:p>
        </p:txBody>
      </p:sp>
      <p:sp>
        <p:nvSpPr>
          <p:cNvPr id="89" name="Freeform 4"/>
          <p:cNvSpPr/>
          <p:nvPr/>
        </p:nvSpPr>
        <p:spPr>
          <a:xfrm>
            <a:off x="10448640" y="2588040"/>
            <a:ext cx="6494760" cy="3490200"/>
          </a:xfrm>
          <a:custGeom>
            <a:avLst/>
            <a:gdLst>
              <a:gd name="textAreaLeft" fmla="*/ 0 w 6494760"/>
              <a:gd name="textAreaRight" fmla="*/ 6495840 w 6494760"/>
              <a:gd name="textAreaTop" fmla="*/ 0 h 3490200"/>
              <a:gd name="textAreaBottom" fmla="*/ 3491280 h 3490200"/>
            </a:gdLst>
            <a:ahLst/>
            <a:rect l="textAreaLeft" t="textAreaTop" r="textAreaRight" b="textAreaBottom"/>
            <a:pathLst>
              <a:path w="6495729" h="3491454">
                <a:moveTo>
                  <a:pt x="0" y="0"/>
                </a:moveTo>
                <a:lnTo>
                  <a:pt x="6495729" y="0"/>
                </a:lnTo>
                <a:lnTo>
                  <a:pt x="6495729" y="3491455"/>
                </a:lnTo>
                <a:lnTo>
                  <a:pt x="0" y="3491455"/>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0" name="Freeform 5"/>
          <p:cNvSpPr/>
          <p:nvPr/>
        </p:nvSpPr>
        <p:spPr>
          <a:xfrm>
            <a:off x="1341360" y="6429240"/>
            <a:ext cx="4739760" cy="3435120"/>
          </a:xfrm>
          <a:custGeom>
            <a:avLst/>
            <a:gdLst>
              <a:gd name="textAreaLeft" fmla="*/ 0 w 4739760"/>
              <a:gd name="textAreaRight" fmla="*/ 4740840 w 4739760"/>
              <a:gd name="textAreaTop" fmla="*/ 0 h 3435120"/>
              <a:gd name="textAreaBottom" fmla="*/ 3436200 h 3435120"/>
            </a:gdLst>
            <a:ahLst/>
            <a:rect l="textAreaLeft" t="textAreaTop" r="textAreaRight" b="textAreaBottom"/>
            <a:pathLst>
              <a:path w="4740726" h="3436078">
                <a:moveTo>
                  <a:pt x="0" y="0"/>
                </a:moveTo>
                <a:lnTo>
                  <a:pt x="4740726" y="0"/>
                </a:lnTo>
                <a:lnTo>
                  <a:pt x="4740726" y="3436078"/>
                </a:lnTo>
                <a:lnTo>
                  <a:pt x="0" y="3436078"/>
                </a:lnTo>
                <a:lnTo>
                  <a:pt x="0" y="0"/>
                </a:lnTo>
                <a:close/>
              </a:path>
            </a:pathLst>
          </a:custGeom>
          <a:blipFill rotWithShape="0">
            <a:blip r:embed="rId3"/>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1" name="Freeform 6"/>
          <p:cNvSpPr/>
          <p:nvPr/>
        </p:nvSpPr>
        <p:spPr>
          <a:xfrm>
            <a:off x="9144000" y="6538680"/>
            <a:ext cx="4437360" cy="3215880"/>
          </a:xfrm>
          <a:custGeom>
            <a:avLst/>
            <a:gdLst>
              <a:gd name="textAreaLeft" fmla="*/ 0 w 4437360"/>
              <a:gd name="textAreaRight" fmla="*/ 4438440 w 4437360"/>
              <a:gd name="textAreaTop" fmla="*/ 0 h 3215880"/>
              <a:gd name="textAreaBottom" fmla="*/ 3216960 h 3215880"/>
            </a:gdLst>
            <a:ahLst/>
            <a:rect l="textAreaLeft" t="textAreaTop" r="textAreaRight" b="textAreaBottom"/>
            <a:pathLst>
              <a:path w="4438542" h="3217056">
                <a:moveTo>
                  <a:pt x="0" y="0"/>
                </a:moveTo>
                <a:lnTo>
                  <a:pt x="4438542" y="0"/>
                </a:lnTo>
                <a:lnTo>
                  <a:pt x="4438542" y="3217056"/>
                </a:lnTo>
                <a:lnTo>
                  <a:pt x="0" y="3217056"/>
                </a:lnTo>
                <a:lnTo>
                  <a:pt x="0" y="0"/>
                </a:lnTo>
                <a:close/>
              </a:path>
            </a:pathLst>
          </a:custGeom>
          <a:blipFill rotWithShape="0">
            <a:blip r:embed="rId4"/>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92" name="TextBox 7"/>
          <p:cNvSpPr/>
          <p:nvPr/>
        </p:nvSpPr>
        <p:spPr>
          <a:xfrm>
            <a:off x="1028880" y="885960"/>
            <a:ext cx="161154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Canva Sans Bold"/>
                <a:ea typeface="Canva Sans Bold"/>
              </a:rPr>
              <a:t>Data Preprocessing &amp; Cleaning</a:t>
            </a:r>
            <a:endParaRPr b="0" lang="en-US" sz="7600" spc="-1" strike="noStrike">
              <a:solidFill>
                <a:srgbClr val="ffffff"/>
              </a:solidFill>
              <a:latin typeface="Arial"/>
            </a:endParaRPr>
          </a:p>
        </p:txBody>
      </p:sp>
      <p:sp>
        <p:nvSpPr>
          <p:cNvPr id="93" name="AutoShape 8"/>
          <p:cNvSpPr/>
          <p:nvPr/>
        </p:nvSpPr>
        <p:spPr>
          <a:xfrm>
            <a:off x="6081840" y="8147160"/>
            <a:ext cx="3062160" cy="360"/>
          </a:xfrm>
          <a:prstGeom prst="line">
            <a:avLst/>
          </a:prstGeom>
          <a:ln w="38100">
            <a:solidFill>
              <a:srgbClr val="ffffff"/>
            </a:solidFill>
            <a:round/>
            <a:tailEnd len="sm" type="arrow" w="me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94" name="TextBox 2"/>
          <p:cNvSpPr/>
          <p:nvPr/>
        </p:nvSpPr>
        <p:spPr>
          <a:xfrm>
            <a:off x="1028880" y="885960"/>
            <a:ext cx="124578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Canva Sans Bold"/>
                <a:ea typeface="Canva Sans Bold"/>
              </a:rPr>
              <a:t>Feature Engineering</a:t>
            </a:r>
            <a:endParaRPr b="0" lang="en-US" sz="7600" spc="-1" strike="noStrike">
              <a:solidFill>
                <a:srgbClr val="ffffff"/>
              </a:solidFill>
              <a:latin typeface="Arial"/>
            </a:endParaRPr>
          </a:p>
        </p:txBody>
      </p:sp>
      <p:sp>
        <p:nvSpPr>
          <p:cNvPr id="95" name="TextBox 3"/>
          <p:cNvSpPr/>
          <p:nvPr/>
        </p:nvSpPr>
        <p:spPr>
          <a:xfrm>
            <a:off x="636120" y="3794760"/>
            <a:ext cx="9829080" cy="5334840"/>
          </a:xfrm>
          <a:prstGeom prst="rect">
            <a:avLst/>
          </a:prstGeom>
          <a:noFill/>
          <a:ln w="0">
            <a:noFill/>
          </a:ln>
        </p:spPr>
        <p:style>
          <a:lnRef idx="0"/>
          <a:fillRef idx="0"/>
          <a:effectRef idx="0"/>
          <a:fontRef idx="minor"/>
        </p:style>
        <p:txBody>
          <a:bodyPr lIns="0" rIns="0" tIns="0" bIns="0" anchor="t">
            <a:spAutoFit/>
          </a:bodyPr>
          <a:p>
            <a:pPr defTabSz="914400">
              <a:lnSpc>
                <a:spcPts val="4201"/>
              </a:lnSpc>
            </a:pPr>
            <a:r>
              <a:rPr b="1" lang="en-US" sz="3000" spc="-1" strike="noStrike">
                <a:solidFill>
                  <a:srgbClr val="ffffff"/>
                </a:solidFill>
                <a:latin typeface="Canva Sans Bold"/>
                <a:ea typeface="Canva Sans Bold"/>
              </a:rPr>
              <a:t>The Neural Networks used the following features:</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Canva Sans Bold"/>
                <a:ea typeface="Canva Sans Bold"/>
              </a:rPr>
              <a:t>Temperature</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Canva Sans Bold"/>
                <a:ea typeface="Canva Sans Bold"/>
              </a:rPr>
              <a:t>Wind direction_sin</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Canva Sans Bold"/>
                <a:ea typeface="Canva Sans Bold"/>
              </a:rPr>
              <a:t>Wind direction_cos</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Canva Sans Bold"/>
                <a:ea typeface="Canva Sans Bold"/>
              </a:rPr>
              <a:t>Wind Speed</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Canva Sans Bold"/>
                <a:ea typeface="Canva Sans Bold"/>
              </a:rPr>
              <a:t>One-hot encoded Conditions (Classification only)</a:t>
            </a:r>
            <a:endParaRPr b="0" lang="en-US" sz="3000" spc="-1" strike="noStrike">
              <a:solidFill>
                <a:srgbClr val="ffffff"/>
              </a:solidFill>
              <a:latin typeface="Arial"/>
            </a:endParaRPr>
          </a:p>
          <a:p>
            <a:pPr defTabSz="914400">
              <a:lnSpc>
                <a:spcPts val="4201"/>
              </a:lnSpc>
            </a:pPr>
            <a:r>
              <a:rPr b="1" lang="en-US" sz="3000" spc="-1" strike="noStrike">
                <a:solidFill>
                  <a:srgbClr val="ffffff"/>
                </a:solidFill>
                <a:latin typeface="Canva Sans Bold"/>
                <a:ea typeface="Canva Sans Bold"/>
              </a:rPr>
              <a:t>Target:</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Canva Sans Bold"/>
                <a:ea typeface="Canva Sans Bold"/>
              </a:rPr>
              <a:t>Termperature (Regression)</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Canva Sans Bold"/>
                <a:ea typeface="Canva Sans Bold"/>
              </a:rPr>
              <a:t>One-hot encoded Conditions (Classification)</a:t>
            </a:r>
            <a:endParaRPr b="0" lang="en-US" sz="3000" spc="-1" strike="noStrike">
              <a:solidFill>
                <a:srgbClr val="ffffff"/>
              </a:solidFill>
              <a:latin typeface="Arial"/>
            </a:endParaRPr>
          </a:p>
        </p:txBody>
      </p:sp>
      <p:sp>
        <p:nvSpPr>
          <p:cNvPr id="96" name="TextBox 4"/>
          <p:cNvSpPr/>
          <p:nvPr/>
        </p:nvSpPr>
        <p:spPr>
          <a:xfrm>
            <a:off x="636120" y="2617560"/>
            <a:ext cx="11117520" cy="914760"/>
          </a:xfrm>
          <a:prstGeom prst="rect">
            <a:avLst/>
          </a:prstGeom>
          <a:noFill/>
          <a:ln w="0">
            <a:noFill/>
          </a:ln>
        </p:spPr>
        <p:style>
          <a:lnRef idx="0"/>
          <a:fillRef idx="0"/>
          <a:effectRef idx="0"/>
          <a:fontRef idx="minor"/>
        </p:style>
        <p:txBody>
          <a:bodyPr lIns="0" rIns="0" tIns="0" bIns="0" anchor="t">
            <a:spAutoFit/>
          </a:bodyPr>
          <a:p>
            <a:pPr algn="just" defTabSz="914400">
              <a:lnSpc>
                <a:spcPts val="3603"/>
              </a:lnSpc>
            </a:pPr>
            <a:r>
              <a:rPr b="1" i="1" lang="en-US" sz="2570" spc="165" strike="noStrike">
                <a:solidFill>
                  <a:srgbClr val="ffffff"/>
                </a:solidFill>
                <a:latin typeface="Canva Sans Bold Italics"/>
                <a:ea typeface="Canva Sans Bold Italics"/>
              </a:rPr>
              <a:t>THE MODELS USED SLIDING WINDOW FOR CREATING SEQUENCES FOR TRAINING AND TESTING</a:t>
            </a:r>
            <a:endParaRPr b="0" lang="en-US" sz="257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361b70"/>
            </a:gs>
            <a:gs pos="100000">
              <a:srgbClr val="000000"/>
            </a:gs>
          </a:gsLst>
          <a:lin ang="0"/>
        </a:gradFill>
      </p:bgPr>
    </p:bg>
    <p:spTree>
      <p:nvGrpSpPr>
        <p:cNvPr id="1" name=""/>
        <p:cNvGrpSpPr/>
        <p:nvPr/>
      </p:nvGrpSpPr>
      <p:grpSpPr>
        <a:xfrm>
          <a:off x="0" y="0"/>
          <a:ext cx="0" cy="0"/>
          <a:chOff x="0" y="0"/>
          <a:chExt cx="0" cy="0"/>
        </a:xfrm>
      </p:grpSpPr>
      <p:sp>
        <p:nvSpPr>
          <p:cNvPr id="97" name="TextBox 2"/>
          <p:cNvSpPr/>
          <p:nvPr/>
        </p:nvSpPr>
        <p:spPr>
          <a:xfrm>
            <a:off x="0" y="885960"/>
            <a:ext cx="1429128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Canva Sans Bold"/>
                <a:ea typeface="Canva Sans Bold"/>
              </a:rPr>
              <a:t>Model Building (Regression)</a:t>
            </a:r>
            <a:endParaRPr b="0" lang="en-US" sz="7600" spc="-1" strike="noStrike">
              <a:solidFill>
                <a:srgbClr val="ffffff"/>
              </a:solidFill>
              <a:latin typeface="Arial"/>
            </a:endParaRPr>
          </a:p>
        </p:txBody>
      </p:sp>
      <p:sp>
        <p:nvSpPr>
          <p:cNvPr id="98" name="TextBox 3"/>
          <p:cNvSpPr/>
          <p:nvPr/>
        </p:nvSpPr>
        <p:spPr>
          <a:xfrm>
            <a:off x="343440" y="2378880"/>
            <a:ext cx="16808760" cy="3200760"/>
          </a:xfrm>
          <a:prstGeom prst="rect">
            <a:avLst/>
          </a:prstGeom>
          <a:noFill/>
          <a:ln w="0">
            <a:noFill/>
          </a:ln>
        </p:spPr>
        <p:style>
          <a:lnRef idx="0"/>
          <a:fillRef idx="0"/>
          <a:effectRef idx="0"/>
          <a:fontRef idx="minor"/>
        </p:style>
        <p:txBody>
          <a:bodyPr lIns="0" rIns="0" tIns="0" bIns="0" anchor="t">
            <a:spAutoFit/>
          </a:bodyPr>
          <a:p>
            <a:pPr defTabSz="914400">
              <a:lnSpc>
                <a:spcPts val="4201"/>
              </a:lnSpc>
            </a:pPr>
            <a:r>
              <a:rPr b="1" lang="en-US" sz="3000" spc="194" strike="noStrike">
                <a:solidFill>
                  <a:srgbClr val="ffffff"/>
                </a:solidFill>
                <a:latin typeface="Canva Sans Bold"/>
                <a:ea typeface="Canva Sans Bold"/>
              </a:rPr>
              <a:t>MODEL CHOICE:</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94" strike="noStrike">
                <a:solidFill>
                  <a:srgbClr val="ffffff"/>
                </a:solidFill>
                <a:latin typeface="Canva Sans Bold"/>
                <a:ea typeface="Canva Sans Bold"/>
              </a:rPr>
              <a:t>RNN (SIMPLE RECURRENT NEURAL NETWORK): CAPTURES TEMPORAL DEPENDENCIES IN SEQUENTIAL DATA.</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94" strike="noStrike">
                <a:solidFill>
                  <a:srgbClr val="ffffff"/>
                </a:solidFill>
                <a:latin typeface="Canva Sans Bold"/>
                <a:ea typeface="Canva Sans Bold"/>
              </a:rPr>
              <a:t>LSTM (LONG SHORT-TERM MEMORY): HANDLES LONG-TERM DEPENDENCIES BETTER, REDUCES VANISHING GRADIENT PROBLEM.</a:t>
            </a:r>
            <a:endParaRPr b="0" lang="en-US" sz="3000" spc="-1" strike="noStrike">
              <a:solidFill>
                <a:srgbClr val="ffffff"/>
              </a:solidFill>
              <a:latin typeface="Arial"/>
            </a:endParaRPr>
          </a:p>
          <a:p>
            <a:pPr defTabSz="914400">
              <a:lnSpc>
                <a:spcPts val="4201"/>
              </a:lnSpc>
            </a:pPr>
            <a:endParaRPr b="0" lang="en-US" sz="1800" spc="-1" strike="noStrike">
              <a:solidFill>
                <a:srgbClr val="ffffff"/>
              </a:solidFill>
              <a:latin typeface="Arial"/>
            </a:endParaRPr>
          </a:p>
        </p:txBody>
      </p:sp>
      <p:sp>
        <p:nvSpPr>
          <p:cNvPr id="99" name="TextBox 4"/>
          <p:cNvSpPr/>
          <p:nvPr/>
        </p:nvSpPr>
        <p:spPr>
          <a:xfrm>
            <a:off x="591480" y="5536800"/>
            <a:ext cx="15321600" cy="2768760"/>
          </a:xfrm>
          <a:prstGeom prst="rect">
            <a:avLst/>
          </a:prstGeom>
          <a:noFill/>
          <a:ln w="0">
            <a:noFill/>
          </a:ln>
        </p:spPr>
        <p:style>
          <a:lnRef idx="0"/>
          <a:fillRef idx="0"/>
          <a:effectRef idx="0"/>
          <a:fontRef idx="minor"/>
        </p:style>
        <p:txBody>
          <a:bodyPr lIns="0" rIns="0" tIns="0" bIns="0" anchor="t">
            <a:spAutoFit/>
          </a:bodyPr>
          <a:p>
            <a:pPr defTabSz="914400">
              <a:lnSpc>
                <a:spcPts val="3634"/>
              </a:lnSpc>
            </a:pPr>
            <a:r>
              <a:rPr b="1" lang="en-US" sz="2590" spc="165" strike="noStrike">
                <a:solidFill>
                  <a:srgbClr val="ffffff"/>
                </a:solidFill>
                <a:latin typeface="Canva Sans Bold"/>
                <a:ea typeface="Canva Sans Bold"/>
              </a:rPr>
              <a:t>ARCHITECTURE:</a:t>
            </a:r>
            <a:endParaRPr b="0" lang="en-US" sz="2590" spc="-1" strike="noStrike">
              <a:solidFill>
                <a:srgbClr val="ffffff"/>
              </a:solidFill>
              <a:latin typeface="Arial"/>
            </a:endParaRPr>
          </a:p>
          <a:p>
            <a:pPr lvl="1" marL="560520" indent="-280080" algn="just" defTabSz="914400">
              <a:lnSpc>
                <a:spcPts val="3634"/>
              </a:lnSpc>
              <a:buClr>
                <a:srgbClr val="ffffff"/>
              </a:buClr>
              <a:buFont typeface="Arial"/>
              <a:buChar char="•"/>
            </a:pPr>
            <a:r>
              <a:rPr b="1" lang="en-US" sz="2590" spc="165" strike="noStrike">
                <a:solidFill>
                  <a:srgbClr val="ffffff"/>
                </a:solidFill>
                <a:latin typeface="Canva Sans Bold"/>
                <a:ea typeface="Canva Sans Bold"/>
              </a:rPr>
              <a:t>INPUT LAYER: SEQUENCE OF PREVIOUS VALUES (WINDOW).</a:t>
            </a:r>
            <a:endParaRPr b="0" lang="en-US" sz="2590" spc="-1" strike="noStrike">
              <a:solidFill>
                <a:srgbClr val="ffffff"/>
              </a:solidFill>
              <a:latin typeface="Arial"/>
            </a:endParaRPr>
          </a:p>
          <a:p>
            <a:pPr lvl="1" marL="560520" indent="-280080" algn="just" defTabSz="914400">
              <a:lnSpc>
                <a:spcPts val="3634"/>
              </a:lnSpc>
              <a:buClr>
                <a:srgbClr val="ffffff"/>
              </a:buClr>
              <a:buFont typeface="Arial"/>
              <a:buChar char="•"/>
            </a:pPr>
            <a:r>
              <a:rPr b="1" lang="en-US" sz="2590" spc="165" strike="noStrike">
                <a:solidFill>
                  <a:srgbClr val="ffffff"/>
                </a:solidFill>
                <a:latin typeface="Canva Sans Bold"/>
                <a:ea typeface="Canva Sans Bold"/>
              </a:rPr>
              <a:t>HIDDEN LAYERS:</a:t>
            </a:r>
            <a:endParaRPr b="0" lang="en-US" sz="2590" spc="-1" strike="noStrike">
              <a:solidFill>
                <a:srgbClr val="ffffff"/>
              </a:solidFill>
              <a:latin typeface="Arial"/>
            </a:endParaRPr>
          </a:p>
          <a:p>
            <a:pPr lvl="2" marL="1121040" indent="-373680" algn="just" defTabSz="914400">
              <a:lnSpc>
                <a:spcPts val="3634"/>
              </a:lnSpc>
              <a:buClr>
                <a:srgbClr val="ffffff"/>
              </a:buClr>
              <a:buFont typeface="Arial"/>
              <a:buChar char="⚬"/>
            </a:pPr>
            <a:r>
              <a:rPr b="1" lang="en-US" sz="2590" spc="165" strike="noStrike">
                <a:solidFill>
                  <a:srgbClr val="ffffff"/>
                </a:solidFill>
                <a:latin typeface="Canva Sans Bold"/>
                <a:ea typeface="Canva Sans Bold"/>
              </a:rPr>
              <a:t>RNN / LSTM LAYER WITH 64 UNITS, TANH ACTIVATION FOR RNN AND LSTM.</a:t>
            </a:r>
            <a:endParaRPr b="0" lang="en-US" sz="2590" spc="-1" strike="noStrike">
              <a:solidFill>
                <a:srgbClr val="ffffff"/>
              </a:solidFill>
              <a:latin typeface="Arial"/>
            </a:endParaRPr>
          </a:p>
          <a:p>
            <a:pPr lvl="1" marL="560520" indent="-280080" algn="just" defTabSz="914400">
              <a:lnSpc>
                <a:spcPts val="3634"/>
              </a:lnSpc>
              <a:buClr>
                <a:srgbClr val="ffffff"/>
              </a:buClr>
              <a:buFont typeface="Arial"/>
              <a:buChar char="•"/>
            </a:pPr>
            <a:r>
              <a:rPr b="1" lang="en-US" sz="2590" spc="165" strike="noStrike">
                <a:solidFill>
                  <a:srgbClr val="ffffff"/>
                </a:solidFill>
                <a:latin typeface="Canva Sans Bold"/>
                <a:ea typeface="Canva Sans Bold"/>
              </a:rPr>
              <a:t>OUTPUT LAYER: DENSE LAYER WITH 1 UNIT FOR TEMPERATURE PREDICTION WITH LINEAR ACTIVATION.</a:t>
            </a:r>
            <a:endParaRPr b="0" lang="en-US" sz="25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100" name="Freeform 2"/>
          <p:cNvSpPr/>
          <p:nvPr/>
        </p:nvSpPr>
        <p:spPr>
          <a:xfrm>
            <a:off x="7266960" y="3753720"/>
            <a:ext cx="4923360" cy="4482720"/>
          </a:xfrm>
          <a:custGeom>
            <a:avLst/>
            <a:gdLst>
              <a:gd name="textAreaLeft" fmla="*/ 0 w 4923360"/>
              <a:gd name="textAreaRight" fmla="*/ 4924440 w 4923360"/>
              <a:gd name="textAreaTop" fmla="*/ 0 h 4482720"/>
              <a:gd name="textAreaBottom" fmla="*/ 4483800 h 4482720"/>
            </a:gdLst>
            <a:ahLst/>
            <a:rect l="textAreaLeft" t="textAreaTop" r="textAreaRight" b="textAreaBottom"/>
            <a:pathLst>
              <a:path w="4924392" h="4483688">
                <a:moveTo>
                  <a:pt x="0" y="0"/>
                </a:moveTo>
                <a:lnTo>
                  <a:pt x="4924393" y="0"/>
                </a:lnTo>
                <a:lnTo>
                  <a:pt x="4924393" y="4483688"/>
                </a:lnTo>
                <a:lnTo>
                  <a:pt x="0" y="4483688"/>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1" name="Freeform 3"/>
          <p:cNvSpPr/>
          <p:nvPr/>
        </p:nvSpPr>
        <p:spPr>
          <a:xfrm>
            <a:off x="12620520" y="3598920"/>
            <a:ext cx="5194800" cy="4791960"/>
          </a:xfrm>
          <a:custGeom>
            <a:avLst/>
            <a:gdLst>
              <a:gd name="textAreaLeft" fmla="*/ 0 w 5194800"/>
              <a:gd name="textAreaRight" fmla="*/ 5195880 w 5194800"/>
              <a:gd name="textAreaTop" fmla="*/ 0 h 4791960"/>
              <a:gd name="textAreaBottom" fmla="*/ 4793040 h 4791960"/>
            </a:gdLst>
            <a:ahLst/>
            <a:rect l="textAreaLeft" t="textAreaTop" r="textAreaRight" b="textAreaBottom"/>
            <a:pathLst>
              <a:path w="5196033" h="4793076">
                <a:moveTo>
                  <a:pt x="0" y="0"/>
                </a:moveTo>
                <a:lnTo>
                  <a:pt x="5196034" y="0"/>
                </a:lnTo>
                <a:lnTo>
                  <a:pt x="5196034" y="4793076"/>
                </a:lnTo>
                <a:lnTo>
                  <a:pt x="0" y="4793076"/>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2" name="TextBox 4"/>
          <p:cNvSpPr/>
          <p:nvPr/>
        </p:nvSpPr>
        <p:spPr>
          <a:xfrm>
            <a:off x="0" y="885960"/>
            <a:ext cx="1521756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Canva Sans Bold"/>
                <a:ea typeface="Canva Sans Bold"/>
              </a:rPr>
              <a:t>Training Models  (Regression)</a:t>
            </a:r>
            <a:endParaRPr b="0" lang="en-US" sz="7600" spc="-1" strike="noStrike">
              <a:solidFill>
                <a:srgbClr val="ffffff"/>
              </a:solidFill>
              <a:latin typeface="Arial"/>
            </a:endParaRPr>
          </a:p>
        </p:txBody>
      </p:sp>
      <p:sp>
        <p:nvSpPr>
          <p:cNvPr id="103" name="TextBox 5"/>
          <p:cNvSpPr/>
          <p:nvPr/>
        </p:nvSpPr>
        <p:spPr>
          <a:xfrm>
            <a:off x="520920" y="2785320"/>
            <a:ext cx="6789960" cy="3916800"/>
          </a:xfrm>
          <a:prstGeom prst="rect">
            <a:avLst/>
          </a:prstGeom>
          <a:noFill/>
          <a:ln w="0">
            <a:noFill/>
          </a:ln>
        </p:spPr>
        <p:style>
          <a:lnRef idx="0"/>
          <a:fillRef idx="0"/>
          <a:effectRef idx="0"/>
          <a:fontRef idx="minor"/>
        </p:style>
        <p:txBody>
          <a:bodyPr lIns="0" rIns="0" tIns="0" bIns="0" anchor="t">
            <a:spAutoFit/>
          </a:bodyPr>
          <a:p>
            <a:pPr algn="just" defTabSz="914400">
              <a:lnSpc>
                <a:spcPts val="3427"/>
              </a:lnSpc>
            </a:pPr>
            <a:r>
              <a:rPr b="1" lang="en-US" sz="2450" spc="-1" strike="noStrike">
                <a:solidFill>
                  <a:srgbClr val="ffffff"/>
                </a:solidFill>
                <a:latin typeface="Canva Sans Bold"/>
                <a:ea typeface="Canva Sans Bold"/>
              </a:rPr>
              <a:t>Training Details:</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Loss Function: Mean Squared Error (MSE)</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Optimizer: Adam</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Max Epochs: 25</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Batch Size: 32</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Window size 24 - 72 hours</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learning rate 0.001</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Early stopping and model checkpoint</a:t>
            </a:r>
            <a:endParaRPr b="0" lang="en-US" sz="2450" spc="-1" strike="noStrike">
              <a:solidFill>
                <a:srgbClr val="ffffff"/>
              </a:solidFill>
              <a:latin typeface="Arial"/>
            </a:endParaRPr>
          </a:p>
        </p:txBody>
      </p:sp>
      <p:sp>
        <p:nvSpPr>
          <p:cNvPr id="104" name="TextBox 6"/>
          <p:cNvSpPr/>
          <p:nvPr/>
        </p:nvSpPr>
        <p:spPr>
          <a:xfrm>
            <a:off x="8946720" y="2775960"/>
            <a:ext cx="1796760" cy="424080"/>
          </a:xfrm>
          <a:prstGeom prst="rect">
            <a:avLst/>
          </a:prstGeom>
          <a:noFill/>
          <a:ln w="0">
            <a:noFill/>
          </a:ln>
        </p:spPr>
        <p:style>
          <a:lnRef idx="0"/>
          <a:fillRef idx="0"/>
          <a:effectRef idx="0"/>
          <a:fontRef idx="minor"/>
        </p:style>
        <p:txBody>
          <a:bodyPr lIns="0" rIns="0" tIns="0" bIns="0" anchor="t">
            <a:spAutoFit/>
          </a:bodyPr>
          <a:p>
            <a:pPr algn="ctr" defTabSz="914400">
              <a:lnSpc>
                <a:spcPts val="3342"/>
              </a:lnSpc>
            </a:pPr>
            <a:r>
              <a:rPr b="1" lang="en-US" sz="2380" spc="-1" strike="noStrike">
                <a:solidFill>
                  <a:srgbClr val="f5f5f5"/>
                </a:solidFill>
                <a:latin typeface="DM Sans Bold"/>
                <a:ea typeface="DM Sans Bold"/>
              </a:rPr>
              <a:t>LSTM</a:t>
            </a:r>
            <a:endParaRPr b="0" lang="en-US" sz="2380" spc="-1" strike="noStrike">
              <a:solidFill>
                <a:srgbClr val="ffffff"/>
              </a:solidFill>
              <a:latin typeface="Arial"/>
            </a:endParaRPr>
          </a:p>
        </p:txBody>
      </p:sp>
      <p:sp>
        <p:nvSpPr>
          <p:cNvPr id="105" name="TextBox 7"/>
          <p:cNvSpPr/>
          <p:nvPr/>
        </p:nvSpPr>
        <p:spPr>
          <a:xfrm>
            <a:off x="14415120" y="2596680"/>
            <a:ext cx="1357560" cy="424080"/>
          </a:xfrm>
          <a:prstGeom prst="rect">
            <a:avLst/>
          </a:prstGeom>
          <a:noFill/>
          <a:ln w="0">
            <a:noFill/>
          </a:ln>
        </p:spPr>
        <p:style>
          <a:lnRef idx="0"/>
          <a:fillRef idx="0"/>
          <a:effectRef idx="0"/>
          <a:fontRef idx="minor"/>
        </p:style>
        <p:txBody>
          <a:bodyPr lIns="0" rIns="0" tIns="0" bIns="0" anchor="t">
            <a:spAutoFit/>
          </a:bodyPr>
          <a:p>
            <a:pPr algn="ctr" defTabSz="914400">
              <a:lnSpc>
                <a:spcPts val="3342"/>
              </a:lnSpc>
            </a:pPr>
            <a:r>
              <a:rPr b="1" lang="en-US" sz="2380" spc="-1" strike="noStrike">
                <a:solidFill>
                  <a:srgbClr val="ffffff"/>
                </a:solidFill>
                <a:latin typeface="DM Sans Bold"/>
                <a:ea typeface="DM Sans Bold"/>
              </a:rPr>
              <a:t>RNN</a:t>
            </a:r>
            <a:endParaRPr b="0" lang="en-US" sz="23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106" name="Freeform 2"/>
          <p:cNvSpPr/>
          <p:nvPr/>
        </p:nvSpPr>
        <p:spPr>
          <a:xfrm>
            <a:off x="1463040" y="5300640"/>
            <a:ext cx="6644880" cy="2018520"/>
          </a:xfrm>
          <a:custGeom>
            <a:avLst/>
            <a:gdLst>
              <a:gd name="textAreaLeft" fmla="*/ 0 w 6644880"/>
              <a:gd name="textAreaRight" fmla="*/ 6645960 w 6644880"/>
              <a:gd name="textAreaTop" fmla="*/ 0 h 2018520"/>
              <a:gd name="textAreaBottom" fmla="*/ 2019600 h 2018520"/>
            </a:gdLst>
            <a:ahLst/>
            <a:rect l="textAreaLeft" t="textAreaTop" r="textAreaRight" b="textAreaBottom"/>
            <a:pathLst>
              <a:path w="6645907" h="2019604">
                <a:moveTo>
                  <a:pt x="0" y="0"/>
                </a:moveTo>
                <a:lnTo>
                  <a:pt x="6645907" y="0"/>
                </a:lnTo>
                <a:lnTo>
                  <a:pt x="6645907" y="2019604"/>
                </a:lnTo>
                <a:lnTo>
                  <a:pt x="0" y="2019604"/>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7" name="Freeform 3"/>
          <p:cNvSpPr/>
          <p:nvPr/>
        </p:nvSpPr>
        <p:spPr>
          <a:xfrm>
            <a:off x="8507520" y="5300640"/>
            <a:ext cx="7622640" cy="2059200"/>
          </a:xfrm>
          <a:custGeom>
            <a:avLst/>
            <a:gdLst>
              <a:gd name="textAreaLeft" fmla="*/ 0 w 7622640"/>
              <a:gd name="textAreaRight" fmla="*/ 7623720 w 7622640"/>
              <a:gd name="textAreaTop" fmla="*/ 0 h 2059200"/>
              <a:gd name="textAreaBottom" fmla="*/ 2060280 h 2059200"/>
            </a:gdLst>
            <a:ahLst/>
            <a:rect l="textAreaLeft" t="textAreaTop" r="textAreaRight" b="textAreaBottom"/>
            <a:pathLst>
              <a:path w="7623604" h="2060433">
                <a:moveTo>
                  <a:pt x="0" y="0"/>
                </a:moveTo>
                <a:lnTo>
                  <a:pt x="7623604" y="0"/>
                </a:lnTo>
                <a:lnTo>
                  <a:pt x="7623604" y="2060433"/>
                </a:lnTo>
                <a:lnTo>
                  <a:pt x="0" y="2060433"/>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08" name="TextBox 4"/>
          <p:cNvSpPr/>
          <p:nvPr/>
        </p:nvSpPr>
        <p:spPr>
          <a:xfrm>
            <a:off x="0" y="885960"/>
            <a:ext cx="1683936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DM Sans Bold"/>
                <a:ea typeface="DM Sans Bold"/>
              </a:rPr>
              <a:t>Evaluation &amp; Results  (Regression)</a:t>
            </a:r>
            <a:endParaRPr b="0" lang="en-US" sz="7600" spc="-1" strike="noStrike">
              <a:solidFill>
                <a:srgbClr val="ffffff"/>
              </a:solidFill>
              <a:latin typeface="Arial"/>
            </a:endParaRPr>
          </a:p>
        </p:txBody>
      </p:sp>
      <p:sp>
        <p:nvSpPr>
          <p:cNvPr id="109" name="TextBox 5"/>
          <p:cNvSpPr/>
          <p:nvPr/>
        </p:nvSpPr>
        <p:spPr>
          <a:xfrm>
            <a:off x="1294200" y="2643120"/>
            <a:ext cx="4344840" cy="2667240"/>
          </a:xfrm>
          <a:prstGeom prst="rect">
            <a:avLst/>
          </a:prstGeom>
          <a:noFill/>
          <a:ln w="0">
            <a:noFill/>
          </a:ln>
        </p:spPr>
        <p:style>
          <a:lnRef idx="0"/>
          <a:fillRef idx="0"/>
          <a:effectRef idx="0"/>
          <a:fontRef idx="minor"/>
        </p:style>
        <p:txBody>
          <a:bodyPr lIns="0" rIns="0" tIns="0" bIns="0" anchor="t">
            <a:spAutoFit/>
          </a:bodyPr>
          <a:p>
            <a:pPr defTabSz="914400">
              <a:lnSpc>
                <a:spcPts val="4201"/>
              </a:lnSpc>
            </a:pPr>
            <a:r>
              <a:rPr b="1" lang="en-US" sz="3000" spc="-1" strike="noStrike">
                <a:solidFill>
                  <a:srgbClr val="ffffff"/>
                </a:solidFill>
                <a:latin typeface="DM Sans Bold"/>
                <a:ea typeface="DM Sans Bold"/>
              </a:rPr>
              <a:t>Metrics that were used:</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DM Sans Bold"/>
                <a:ea typeface="DM Sans Bold"/>
              </a:rPr>
              <a:t>MAE</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DM Sans Bold"/>
                <a:ea typeface="DM Sans Bold"/>
              </a:rPr>
              <a:t>MSE</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DM Sans Bold"/>
                <a:ea typeface="DM Sans Bold"/>
              </a:rPr>
              <a:t>R2</a:t>
            </a:r>
            <a:endParaRPr b="0" lang="en-US" sz="3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361b70"/>
            </a:gs>
            <a:gs pos="100000">
              <a:srgbClr val="000000"/>
            </a:gs>
          </a:gsLst>
          <a:lin ang="0"/>
        </a:gradFill>
      </p:bgPr>
    </p:bg>
    <p:spTree>
      <p:nvGrpSpPr>
        <p:cNvPr id="1" name=""/>
        <p:cNvGrpSpPr/>
        <p:nvPr/>
      </p:nvGrpSpPr>
      <p:grpSpPr>
        <a:xfrm>
          <a:off x="0" y="0"/>
          <a:ext cx="0" cy="0"/>
          <a:chOff x="0" y="0"/>
          <a:chExt cx="0" cy="0"/>
        </a:xfrm>
      </p:grpSpPr>
      <p:sp>
        <p:nvSpPr>
          <p:cNvPr id="110" name="Freeform 2"/>
          <p:cNvSpPr/>
          <p:nvPr/>
        </p:nvSpPr>
        <p:spPr>
          <a:xfrm>
            <a:off x="686520" y="5156280"/>
            <a:ext cx="7801920" cy="3792960"/>
          </a:xfrm>
          <a:custGeom>
            <a:avLst/>
            <a:gdLst>
              <a:gd name="textAreaLeft" fmla="*/ 0 w 7801920"/>
              <a:gd name="textAreaRight" fmla="*/ 7803000 w 7801920"/>
              <a:gd name="textAreaTop" fmla="*/ 0 h 3792960"/>
              <a:gd name="textAreaBottom" fmla="*/ 3794040 h 3792960"/>
            </a:gdLst>
            <a:ahLst/>
            <a:rect l="textAreaLeft" t="textAreaTop" r="textAreaRight" b="textAreaBottom"/>
            <a:pathLst>
              <a:path w="7802947" h="3794183">
                <a:moveTo>
                  <a:pt x="0" y="0"/>
                </a:moveTo>
                <a:lnTo>
                  <a:pt x="7802947" y="0"/>
                </a:lnTo>
                <a:lnTo>
                  <a:pt x="7802947" y="3794183"/>
                </a:lnTo>
                <a:lnTo>
                  <a:pt x="0" y="3794183"/>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1" name="Freeform 3"/>
          <p:cNvSpPr/>
          <p:nvPr/>
        </p:nvSpPr>
        <p:spPr>
          <a:xfrm>
            <a:off x="9032400" y="4848480"/>
            <a:ext cx="8541000" cy="4408920"/>
          </a:xfrm>
          <a:custGeom>
            <a:avLst/>
            <a:gdLst>
              <a:gd name="textAreaLeft" fmla="*/ 0 w 8541000"/>
              <a:gd name="textAreaRight" fmla="*/ 8542080 w 8541000"/>
              <a:gd name="textAreaTop" fmla="*/ 0 h 4408920"/>
              <a:gd name="textAreaBottom" fmla="*/ 4410000 h 4408920"/>
            </a:gdLst>
            <a:ahLst/>
            <a:rect l="textAreaLeft" t="textAreaTop" r="textAreaRight" b="textAreaBottom"/>
            <a:pathLst>
              <a:path w="8542216" h="4409919">
                <a:moveTo>
                  <a:pt x="0" y="0"/>
                </a:moveTo>
                <a:lnTo>
                  <a:pt x="8542215" y="0"/>
                </a:lnTo>
                <a:lnTo>
                  <a:pt x="8542215" y="4409919"/>
                </a:lnTo>
                <a:lnTo>
                  <a:pt x="0" y="4409919"/>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12" name="TextBox 4"/>
          <p:cNvSpPr/>
          <p:nvPr/>
        </p:nvSpPr>
        <p:spPr>
          <a:xfrm>
            <a:off x="1245960" y="2646000"/>
            <a:ext cx="13473360" cy="1697400"/>
          </a:xfrm>
          <a:prstGeom prst="rect">
            <a:avLst/>
          </a:prstGeom>
          <a:noFill/>
          <a:ln w="0">
            <a:noFill/>
          </a:ln>
        </p:spPr>
        <p:style>
          <a:lnRef idx="0"/>
          <a:fillRef idx="0"/>
          <a:effectRef idx="0"/>
          <a:fontRef idx="minor"/>
        </p:style>
        <p:txBody>
          <a:bodyPr lIns="0" rIns="0" tIns="0" bIns="0" anchor="t">
            <a:spAutoFit/>
          </a:bodyPr>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Models tracks temperature trends very closely.</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Small residual errors mainly occur during sudden spikes or drops.</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LSTM slightly outperforms simple RNN due to its ability to capture long-term dependenc</a:t>
            </a:r>
            <a:endParaRPr b="0" lang="en-US" sz="2380" spc="-1" strike="noStrike">
              <a:solidFill>
                <a:srgbClr val="ffffff"/>
              </a:solidFill>
              <a:latin typeface="Arial"/>
            </a:endParaRPr>
          </a:p>
        </p:txBody>
      </p:sp>
      <p:sp>
        <p:nvSpPr>
          <p:cNvPr id="113" name="TextBox 5"/>
          <p:cNvSpPr/>
          <p:nvPr/>
        </p:nvSpPr>
        <p:spPr>
          <a:xfrm>
            <a:off x="1245960" y="985320"/>
            <a:ext cx="12957840" cy="1350720"/>
          </a:xfrm>
          <a:prstGeom prst="rect">
            <a:avLst/>
          </a:prstGeom>
          <a:noFill/>
          <a:ln w="0">
            <a:noFill/>
          </a:ln>
        </p:spPr>
        <p:style>
          <a:lnRef idx="0"/>
          <a:fillRef idx="0"/>
          <a:effectRef idx="0"/>
          <a:fontRef idx="minor"/>
        </p:style>
        <p:txBody>
          <a:bodyPr lIns="0" rIns="0" tIns="0" bIns="0" anchor="t">
            <a:spAutoFit/>
          </a:bodyPr>
          <a:p>
            <a:pPr defTabSz="914400">
              <a:lnSpc>
                <a:spcPts val="10638"/>
              </a:lnSpc>
            </a:pPr>
            <a:r>
              <a:rPr b="1" lang="en-US" sz="7600" spc="-1" strike="noStrike">
                <a:solidFill>
                  <a:srgbClr val="ffffff"/>
                </a:solidFill>
                <a:latin typeface="DM Sans Bold"/>
                <a:ea typeface="DM Sans Bold"/>
              </a:rPr>
              <a:t>Visualization (Regression)</a:t>
            </a:r>
            <a:endParaRPr b="0" lang="en-US" sz="7600" spc="-1" strike="noStrike">
              <a:solidFill>
                <a:srgbClr val="ffffff"/>
              </a:solidFill>
              <a:latin typeface="Arial"/>
            </a:endParaRPr>
          </a:p>
        </p:txBody>
      </p:sp>
      <p:sp>
        <p:nvSpPr>
          <p:cNvPr id="114" name="TextBox 6"/>
          <p:cNvSpPr/>
          <p:nvPr/>
        </p:nvSpPr>
        <p:spPr>
          <a:xfrm>
            <a:off x="3769920" y="4262040"/>
            <a:ext cx="1487160" cy="424080"/>
          </a:xfrm>
          <a:prstGeom prst="rect">
            <a:avLst/>
          </a:prstGeom>
          <a:noFill/>
          <a:ln w="0">
            <a:noFill/>
          </a:ln>
        </p:spPr>
        <p:style>
          <a:lnRef idx="0"/>
          <a:fillRef idx="0"/>
          <a:effectRef idx="0"/>
          <a:fontRef idx="minor"/>
        </p:style>
        <p:txBody>
          <a:bodyPr lIns="0" rIns="0" tIns="0" bIns="0" anchor="t">
            <a:spAutoFit/>
          </a:bodyPr>
          <a:p>
            <a:pPr algn="ctr" defTabSz="914400">
              <a:lnSpc>
                <a:spcPts val="3342"/>
              </a:lnSpc>
            </a:pPr>
            <a:r>
              <a:rPr b="1" lang="en-US" sz="2380" spc="-1" strike="noStrike">
                <a:solidFill>
                  <a:srgbClr val="ffffff"/>
                </a:solidFill>
                <a:latin typeface="DM Sans Bold"/>
                <a:ea typeface="DM Sans Bold"/>
              </a:rPr>
              <a:t>RNN</a:t>
            </a:r>
            <a:endParaRPr b="0" lang="en-US" sz="2380" spc="-1" strike="noStrike">
              <a:solidFill>
                <a:srgbClr val="ffffff"/>
              </a:solidFill>
              <a:latin typeface="Arial"/>
            </a:endParaRPr>
          </a:p>
        </p:txBody>
      </p:sp>
      <p:sp>
        <p:nvSpPr>
          <p:cNvPr id="115" name="TextBox 7"/>
          <p:cNvSpPr/>
          <p:nvPr/>
        </p:nvSpPr>
        <p:spPr>
          <a:xfrm>
            <a:off x="12007440" y="4262040"/>
            <a:ext cx="1250640" cy="424080"/>
          </a:xfrm>
          <a:prstGeom prst="rect">
            <a:avLst/>
          </a:prstGeom>
          <a:noFill/>
          <a:ln w="0">
            <a:noFill/>
          </a:ln>
        </p:spPr>
        <p:style>
          <a:lnRef idx="0"/>
          <a:fillRef idx="0"/>
          <a:effectRef idx="0"/>
          <a:fontRef idx="minor"/>
        </p:style>
        <p:txBody>
          <a:bodyPr lIns="0" rIns="0" tIns="0" bIns="0" anchor="t">
            <a:spAutoFit/>
          </a:bodyPr>
          <a:p>
            <a:pPr algn="ctr" defTabSz="914400">
              <a:lnSpc>
                <a:spcPts val="3342"/>
              </a:lnSpc>
            </a:pPr>
            <a:r>
              <a:rPr b="1" lang="en-US" sz="2380" spc="-1" strike="noStrike">
                <a:solidFill>
                  <a:srgbClr val="ffffff"/>
                </a:solidFill>
                <a:latin typeface="DM Sans Bold"/>
                <a:ea typeface="DM Sans Bold"/>
              </a:rPr>
              <a:t>LSTM</a:t>
            </a:r>
            <a:endParaRPr b="0" lang="en-US" sz="23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361b70"/>
            </a:gs>
            <a:gs pos="100000">
              <a:srgbClr val="000000"/>
            </a:gs>
          </a:gsLst>
          <a:lin ang="0"/>
        </a:gradFill>
      </p:bgPr>
    </p:bg>
    <p:spTree>
      <p:nvGrpSpPr>
        <p:cNvPr id="1" name=""/>
        <p:cNvGrpSpPr/>
        <p:nvPr/>
      </p:nvGrpSpPr>
      <p:grpSpPr>
        <a:xfrm>
          <a:off x="0" y="0"/>
          <a:ext cx="0" cy="0"/>
          <a:chOff x="0" y="0"/>
          <a:chExt cx="0" cy="0"/>
        </a:xfrm>
      </p:grpSpPr>
      <p:sp>
        <p:nvSpPr>
          <p:cNvPr id="116" name="TextBox 2"/>
          <p:cNvSpPr/>
          <p:nvPr/>
        </p:nvSpPr>
        <p:spPr>
          <a:xfrm>
            <a:off x="0" y="885960"/>
            <a:ext cx="149184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Canva Sans Bold"/>
                <a:ea typeface="Canva Sans Bold"/>
              </a:rPr>
              <a:t>Model Building (Classification)</a:t>
            </a:r>
            <a:endParaRPr b="0" lang="en-US" sz="7600" spc="-1" strike="noStrike">
              <a:solidFill>
                <a:srgbClr val="ffffff"/>
              </a:solidFill>
              <a:latin typeface="Arial"/>
            </a:endParaRPr>
          </a:p>
        </p:txBody>
      </p:sp>
      <p:sp>
        <p:nvSpPr>
          <p:cNvPr id="117" name="TextBox 3"/>
          <p:cNvSpPr/>
          <p:nvPr/>
        </p:nvSpPr>
        <p:spPr>
          <a:xfrm>
            <a:off x="343440" y="2378880"/>
            <a:ext cx="16808760" cy="2133720"/>
          </a:xfrm>
          <a:prstGeom prst="rect">
            <a:avLst/>
          </a:prstGeom>
          <a:noFill/>
          <a:ln w="0">
            <a:noFill/>
          </a:ln>
        </p:spPr>
        <p:style>
          <a:lnRef idx="0"/>
          <a:fillRef idx="0"/>
          <a:effectRef idx="0"/>
          <a:fontRef idx="minor"/>
        </p:style>
        <p:txBody>
          <a:bodyPr lIns="0" rIns="0" tIns="0" bIns="0" anchor="t">
            <a:spAutoFit/>
          </a:bodyPr>
          <a:p>
            <a:pPr defTabSz="914400">
              <a:lnSpc>
                <a:spcPts val="4201"/>
              </a:lnSpc>
            </a:pPr>
            <a:r>
              <a:rPr b="1" lang="en-US" sz="3000" spc="194" strike="noStrike">
                <a:solidFill>
                  <a:srgbClr val="ffffff"/>
                </a:solidFill>
                <a:latin typeface="Canva Sans Bold"/>
                <a:ea typeface="Canva Sans Bold"/>
              </a:rPr>
              <a:t>MODEL CHOICE:</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94" strike="noStrike">
                <a:solidFill>
                  <a:srgbClr val="ffffff"/>
                </a:solidFill>
                <a:latin typeface="Canva Sans Bold"/>
                <a:ea typeface="Canva Sans Bold"/>
              </a:rPr>
              <a:t>LSTM (LONG SHORT-TERM MEMORY): HANDLES LONG-TERM DEPENDENCIES BETTER, REDUCES VANISHING GRADIENT PROBLEM.</a:t>
            </a:r>
            <a:endParaRPr b="0" lang="en-US" sz="3000" spc="-1" strike="noStrike">
              <a:solidFill>
                <a:srgbClr val="ffffff"/>
              </a:solidFill>
              <a:latin typeface="Arial"/>
            </a:endParaRPr>
          </a:p>
          <a:p>
            <a:pPr defTabSz="914400">
              <a:lnSpc>
                <a:spcPts val="4201"/>
              </a:lnSpc>
            </a:pPr>
            <a:endParaRPr b="0" lang="en-US" sz="1800" spc="-1" strike="noStrike">
              <a:solidFill>
                <a:srgbClr val="ffffff"/>
              </a:solidFill>
              <a:latin typeface="Arial"/>
            </a:endParaRPr>
          </a:p>
        </p:txBody>
      </p:sp>
      <p:sp>
        <p:nvSpPr>
          <p:cNvPr id="118" name="TextBox 4"/>
          <p:cNvSpPr/>
          <p:nvPr/>
        </p:nvSpPr>
        <p:spPr>
          <a:xfrm>
            <a:off x="591480" y="5536800"/>
            <a:ext cx="14500440" cy="2768760"/>
          </a:xfrm>
          <a:prstGeom prst="rect">
            <a:avLst/>
          </a:prstGeom>
          <a:noFill/>
          <a:ln w="0">
            <a:noFill/>
          </a:ln>
        </p:spPr>
        <p:style>
          <a:lnRef idx="0"/>
          <a:fillRef idx="0"/>
          <a:effectRef idx="0"/>
          <a:fontRef idx="minor"/>
        </p:style>
        <p:txBody>
          <a:bodyPr lIns="0" rIns="0" tIns="0" bIns="0" anchor="t">
            <a:spAutoFit/>
          </a:bodyPr>
          <a:p>
            <a:pPr defTabSz="914400">
              <a:lnSpc>
                <a:spcPts val="3634"/>
              </a:lnSpc>
            </a:pPr>
            <a:r>
              <a:rPr b="1" lang="en-US" sz="2590" spc="165" strike="noStrike">
                <a:solidFill>
                  <a:srgbClr val="ffffff"/>
                </a:solidFill>
                <a:latin typeface="Canva Sans Bold"/>
                <a:ea typeface="Canva Sans Bold"/>
              </a:rPr>
              <a:t>ARCHITECTURE:</a:t>
            </a:r>
            <a:endParaRPr b="0" lang="en-US" sz="2590" spc="-1" strike="noStrike">
              <a:solidFill>
                <a:srgbClr val="ffffff"/>
              </a:solidFill>
              <a:latin typeface="Arial"/>
            </a:endParaRPr>
          </a:p>
          <a:p>
            <a:pPr lvl="1" marL="560520" indent="-280080" algn="just" defTabSz="914400">
              <a:lnSpc>
                <a:spcPts val="3634"/>
              </a:lnSpc>
              <a:buClr>
                <a:srgbClr val="ffffff"/>
              </a:buClr>
              <a:buFont typeface="Arial"/>
              <a:buChar char="•"/>
            </a:pPr>
            <a:r>
              <a:rPr b="1" lang="en-US" sz="2590" spc="165" strike="noStrike">
                <a:solidFill>
                  <a:srgbClr val="ffffff"/>
                </a:solidFill>
                <a:latin typeface="Canva Sans Bold"/>
                <a:ea typeface="Canva Sans Bold"/>
              </a:rPr>
              <a:t>INPUT LAYER: SEQUENCE OF PREVIOUS FEATURES (WINDOW).</a:t>
            </a:r>
            <a:endParaRPr b="0" lang="en-US" sz="2590" spc="-1" strike="noStrike">
              <a:solidFill>
                <a:srgbClr val="ffffff"/>
              </a:solidFill>
              <a:latin typeface="Arial"/>
            </a:endParaRPr>
          </a:p>
          <a:p>
            <a:pPr lvl="1" marL="560520" indent="-280080" algn="just" defTabSz="914400">
              <a:lnSpc>
                <a:spcPts val="3634"/>
              </a:lnSpc>
              <a:buClr>
                <a:srgbClr val="ffffff"/>
              </a:buClr>
              <a:buFont typeface="Arial"/>
              <a:buChar char="•"/>
            </a:pPr>
            <a:r>
              <a:rPr b="1" lang="en-US" sz="2590" spc="165" strike="noStrike">
                <a:solidFill>
                  <a:srgbClr val="ffffff"/>
                </a:solidFill>
                <a:latin typeface="Canva Sans Bold"/>
                <a:ea typeface="Canva Sans Bold"/>
              </a:rPr>
              <a:t>HIDDEN LAYERS:</a:t>
            </a:r>
            <a:endParaRPr b="0" lang="en-US" sz="2590" spc="-1" strike="noStrike">
              <a:solidFill>
                <a:srgbClr val="ffffff"/>
              </a:solidFill>
              <a:latin typeface="Arial"/>
            </a:endParaRPr>
          </a:p>
          <a:p>
            <a:pPr lvl="2" marL="1121040" indent="-373680" algn="just" defTabSz="914400">
              <a:lnSpc>
                <a:spcPts val="3634"/>
              </a:lnSpc>
              <a:buClr>
                <a:srgbClr val="ffffff"/>
              </a:buClr>
              <a:buFont typeface="Arial"/>
              <a:buChar char="⚬"/>
            </a:pPr>
            <a:r>
              <a:rPr b="1" lang="en-US" sz="2590" spc="165" strike="noStrike">
                <a:solidFill>
                  <a:srgbClr val="ffffff"/>
                </a:solidFill>
                <a:latin typeface="Canva Sans Bold"/>
                <a:ea typeface="Canva Sans Bold"/>
              </a:rPr>
              <a:t>LSTM LAYER WITH 64 UNITS, TANH ACTIVATION FOR LSTM.</a:t>
            </a:r>
            <a:endParaRPr b="0" lang="en-US" sz="2590" spc="-1" strike="noStrike">
              <a:solidFill>
                <a:srgbClr val="ffffff"/>
              </a:solidFill>
              <a:latin typeface="Arial"/>
            </a:endParaRPr>
          </a:p>
          <a:p>
            <a:pPr lvl="1" marL="560520" indent="-280080" algn="just" defTabSz="914400">
              <a:lnSpc>
                <a:spcPts val="3634"/>
              </a:lnSpc>
              <a:buClr>
                <a:srgbClr val="ffffff"/>
              </a:buClr>
              <a:buFont typeface="Arial"/>
              <a:buChar char="•"/>
            </a:pPr>
            <a:r>
              <a:rPr b="1" lang="en-US" sz="2590" spc="165" strike="noStrike">
                <a:solidFill>
                  <a:srgbClr val="ffffff"/>
                </a:solidFill>
                <a:latin typeface="Canva Sans Bold"/>
                <a:ea typeface="Canva Sans Bold"/>
              </a:rPr>
              <a:t>OUTPUT LAYER: DENSE LAYER WITH A UNIT PER CONDITION (32 IN TOTAL)  WITH SOFTMAX ACTIVATION FUNCTION.</a:t>
            </a:r>
            <a:endParaRPr b="0" lang="en-US" sz="259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119" name="Freeform 2"/>
          <p:cNvSpPr/>
          <p:nvPr/>
        </p:nvSpPr>
        <p:spPr>
          <a:xfrm>
            <a:off x="11194560" y="3330360"/>
            <a:ext cx="5492520" cy="5726520"/>
          </a:xfrm>
          <a:custGeom>
            <a:avLst/>
            <a:gdLst>
              <a:gd name="textAreaLeft" fmla="*/ 0 w 5492520"/>
              <a:gd name="textAreaRight" fmla="*/ 5493600 w 5492520"/>
              <a:gd name="textAreaTop" fmla="*/ 0 h 5726520"/>
              <a:gd name="textAreaBottom" fmla="*/ 5727600 h 5726520"/>
            </a:gdLst>
            <a:ahLst/>
            <a:rect l="textAreaLeft" t="textAreaTop" r="textAreaRight" b="textAreaBottom"/>
            <a:pathLst>
              <a:path w="5493726" h="5727501">
                <a:moveTo>
                  <a:pt x="0" y="0"/>
                </a:moveTo>
                <a:lnTo>
                  <a:pt x="5493726" y="0"/>
                </a:lnTo>
                <a:lnTo>
                  <a:pt x="5493726" y="5727501"/>
                </a:lnTo>
                <a:lnTo>
                  <a:pt x="0" y="5727501"/>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0" name="TextBox 3"/>
          <p:cNvSpPr/>
          <p:nvPr/>
        </p:nvSpPr>
        <p:spPr>
          <a:xfrm>
            <a:off x="0" y="885960"/>
            <a:ext cx="1737288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Canva Sans Bold"/>
                <a:ea typeface="Canva Sans Bold"/>
              </a:rPr>
              <a:t>Training Models  (Classification)</a:t>
            </a:r>
            <a:endParaRPr b="0" lang="en-US" sz="7600" spc="-1" strike="noStrike">
              <a:solidFill>
                <a:srgbClr val="ffffff"/>
              </a:solidFill>
              <a:latin typeface="Arial"/>
            </a:endParaRPr>
          </a:p>
        </p:txBody>
      </p:sp>
      <p:sp>
        <p:nvSpPr>
          <p:cNvPr id="121" name="TextBox 4"/>
          <p:cNvSpPr/>
          <p:nvPr/>
        </p:nvSpPr>
        <p:spPr>
          <a:xfrm>
            <a:off x="520920" y="2785320"/>
            <a:ext cx="7936560" cy="3481560"/>
          </a:xfrm>
          <a:prstGeom prst="rect">
            <a:avLst/>
          </a:prstGeom>
          <a:noFill/>
          <a:ln w="0">
            <a:noFill/>
          </a:ln>
        </p:spPr>
        <p:style>
          <a:lnRef idx="0"/>
          <a:fillRef idx="0"/>
          <a:effectRef idx="0"/>
          <a:fontRef idx="minor"/>
        </p:style>
        <p:txBody>
          <a:bodyPr lIns="0" rIns="0" tIns="0" bIns="0" anchor="t">
            <a:spAutoFit/>
          </a:bodyPr>
          <a:p>
            <a:pPr algn="just" defTabSz="914400">
              <a:lnSpc>
                <a:spcPts val="3427"/>
              </a:lnSpc>
            </a:pPr>
            <a:r>
              <a:rPr b="1" lang="en-US" sz="2450" spc="-1" strike="noStrike">
                <a:solidFill>
                  <a:srgbClr val="ffffff"/>
                </a:solidFill>
                <a:latin typeface="Canva Sans Bold"/>
                <a:ea typeface="Canva Sans Bold"/>
              </a:rPr>
              <a:t>Training Details:</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Loss Function: Categorical Crossentropy</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Optimizer: Adam</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Max Epochs: 25</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Batch Size: 32</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Window size 24 - 72 hours</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learning rate 0.001</a:t>
            </a:r>
            <a:endParaRPr b="0" lang="en-US" sz="2450" spc="-1" strike="noStrike">
              <a:solidFill>
                <a:srgbClr val="ffffff"/>
              </a:solidFill>
              <a:latin typeface="Arial"/>
            </a:endParaRPr>
          </a:p>
          <a:p>
            <a:pPr lvl="1" marL="528480" indent="-264240" algn="just" defTabSz="914400">
              <a:lnSpc>
                <a:spcPts val="3427"/>
              </a:lnSpc>
              <a:buClr>
                <a:srgbClr val="ffffff"/>
              </a:buClr>
              <a:buFont typeface="Arial"/>
              <a:buChar char="•"/>
            </a:pPr>
            <a:r>
              <a:rPr b="1" lang="en-US" sz="2450" spc="-1" strike="noStrike">
                <a:solidFill>
                  <a:srgbClr val="ffffff"/>
                </a:solidFill>
                <a:latin typeface="Canva Sans Bold"/>
                <a:ea typeface="Canva Sans Bold"/>
              </a:rPr>
              <a:t>Early stopping and model checkpoint</a:t>
            </a:r>
            <a:endParaRPr b="0" lang="en-US" sz="2450" spc="-1" strike="noStrike">
              <a:solidFill>
                <a:srgbClr val="ffffff"/>
              </a:solidFill>
              <a:latin typeface="Arial"/>
            </a:endParaRPr>
          </a:p>
        </p:txBody>
      </p:sp>
      <p:sp>
        <p:nvSpPr>
          <p:cNvPr id="122" name="TextBox 5"/>
          <p:cNvSpPr/>
          <p:nvPr/>
        </p:nvSpPr>
        <p:spPr>
          <a:xfrm>
            <a:off x="12801600" y="2547000"/>
            <a:ext cx="1110960" cy="424080"/>
          </a:xfrm>
          <a:prstGeom prst="rect">
            <a:avLst/>
          </a:prstGeom>
          <a:noFill/>
          <a:ln w="0">
            <a:noFill/>
          </a:ln>
        </p:spPr>
        <p:style>
          <a:lnRef idx="0"/>
          <a:fillRef idx="0"/>
          <a:effectRef idx="0"/>
          <a:fontRef idx="minor"/>
        </p:style>
        <p:txBody>
          <a:bodyPr lIns="0" rIns="0" tIns="0" bIns="0" anchor="t">
            <a:spAutoFit/>
          </a:bodyPr>
          <a:p>
            <a:pPr algn="ctr" defTabSz="914400">
              <a:lnSpc>
                <a:spcPts val="3342"/>
              </a:lnSpc>
            </a:pPr>
            <a:r>
              <a:rPr b="1" lang="en-US" sz="2380" spc="-1" strike="noStrike">
                <a:solidFill>
                  <a:srgbClr val="f5f5f5"/>
                </a:solidFill>
                <a:latin typeface="DM Sans Bold"/>
                <a:ea typeface="DM Sans Bold"/>
              </a:rPr>
              <a:t>LSTM</a:t>
            </a:r>
            <a:endParaRPr b="0" lang="en-US" sz="23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123" name="Freeform 2"/>
          <p:cNvSpPr/>
          <p:nvPr/>
        </p:nvSpPr>
        <p:spPr>
          <a:xfrm>
            <a:off x="1497960" y="5833800"/>
            <a:ext cx="7881480" cy="2467440"/>
          </a:xfrm>
          <a:custGeom>
            <a:avLst/>
            <a:gdLst>
              <a:gd name="textAreaLeft" fmla="*/ 0 w 7881480"/>
              <a:gd name="textAreaRight" fmla="*/ 7882560 w 7881480"/>
              <a:gd name="textAreaTop" fmla="*/ 0 h 2467440"/>
              <a:gd name="textAreaBottom" fmla="*/ 2468520 h 2467440"/>
            </a:gdLst>
            <a:ahLst/>
            <a:rect l="textAreaLeft" t="textAreaTop" r="textAreaRight" b="textAreaBottom"/>
            <a:pathLst>
              <a:path w="7882475" h="2468533">
                <a:moveTo>
                  <a:pt x="0" y="0"/>
                </a:moveTo>
                <a:lnTo>
                  <a:pt x="7882474" y="0"/>
                </a:lnTo>
                <a:lnTo>
                  <a:pt x="7882474" y="2468533"/>
                </a:lnTo>
                <a:lnTo>
                  <a:pt x="0" y="2468533"/>
                </a:lnTo>
                <a:lnTo>
                  <a:pt x="0" y="0"/>
                </a:lnTo>
                <a:close/>
              </a:path>
            </a:pathLst>
          </a:custGeom>
          <a:blipFill rotWithShape="0">
            <a:blip r:embed="rId1"/>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4" name="Freeform 3"/>
          <p:cNvSpPr/>
          <p:nvPr/>
        </p:nvSpPr>
        <p:spPr>
          <a:xfrm>
            <a:off x="9998640" y="3122280"/>
            <a:ext cx="7068960" cy="5952600"/>
          </a:xfrm>
          <a:custGeom>
            <a:avLst/>
            <a:gdLst>
              <a:gd name="textAreaLeft" fmla="*/ 0 w 7068960"/>
              <a:gd name="textAreaRight" fmla="*/ 7070040 w 7068960"/>
              <a:gd name="textAreaTop" fmla="*/ 0 h 5952600"/>
              <a:gd name="textAreaBottom" fmla="*/ 5953680 h 5952600"/>
            </a:gdLst>
            <a:ahLst/>
            <a:rect l="textAreaLeft" t="textAreaTop" r="textAreaRight" b="textAreaBottom"/>
            <a:pathLst>
              <a:path w="7070107" h="5953774">
                <a:moveTo>
                  <a:pt x="0" y="0"/>
                </a:moveTo>
                <a:lnTo>
                  <a:pt x="7070106" y="0"/>
                </a:lnTo>
                <a:lnTo>
                  <a:pt x="7070106" y="5953774"/>
                </a:lnTo>
                <a:lnTo>
                  <a:pt x="0" y="5953774"/>
                </a:lnTo>
                <a:lnTo>
                  <a:pt x="0" y="0"/>
                </a:lnTo>
                <a:close/>
              </a:path>
            </a:pathLst>
          </a:custGeom>
          <a:blipFill rotWithShape="0">
            <a:blip r:embed="rId2"/>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25" name="TextBox 4"/>
          <p:cNvSpPr/>
          <p:nvPr/>
        </p:nvSpPr>
        <p:spPr>
          <a:xfrm>
            <a:off x="0" y="885960"/>
            <a:ext cx="179442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DM Sans Bold"/>
                <a:ea typeface="DM Sans Bold"/>
              </a:rPr>
              <a:t>Evaluation &amp; Results  (Classification)</a:t>
            </a:r>
            <a:endParaRPr b="0" lang="en-US" sz="7600" spc="-1" strike="noStrike">
              <a:solidFill>
                <a:srgbClr val="ffffff"/>
              </a:solidFill>
              <a:latin typeface="Arial"/>
            </a:endParaRPr>
          </a:p>
        </p:txBody>
      </p:sp>
      <p:sp>
        <p:nvSpPr>
          <p:cNvPr id="126" name="TextBox 5"/>
          <p:cNvSpPr/>
          <p:nvPr/>
        </p:nvSpPr>
        <p:spPr>
          <a:xfrm>
            <a:off x="1294200" y="2643120"/>
            <a:ext cx="4344840" cy="3200760"/>
          </a:xfrm>
          <a:prstGeom prst="rect">
            <a:avLst/>
          </a:prstGeom>
          <a:noFill/>
          <a:ln w="0">
            <a:noFill/>
          </a:ln>
        </p:spPr>
        <p:style>
          <a:lnRef idx="0"/>
          <a:fillRef idx="0"/>
          <a:effectRef idx="0"/>
          <a:fontRef idx="minor"/>
        </p:style>
        <p:txBody>
          <a:bodyPr lIns="0" rIns="0" tIns="0" bIns="0" anchor="t">
            <a:spAutoFit/>
          </a:bodyPr>
          <a:p>
            <a:pPr defTabSz="914400">
              <a:lnSpc>
                <a:spcPts val="4201"/>
              </a:lnSpc>
            </a:pPr>
            <a:r>
              <a:rPr b="1" lang="en-US" sz="3000" spc="-1" strike="noStrike">
                <a:solidFill>
                  <a:srgbClr val="ffffff"/>
                </a:solidFill>
                <a:latin typeface="DM Sans Bold"/>
                <a:ea typeface="DM Sans Bold"/>
              </a:rPr>
              <a:t>Metrics that were used:</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DM Sans Bold"/>
                <a:ea typeface="DM Sans Bold"/>
              </a:rPr>
              <a:t>Precision</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DM Sans Bold"/>
                <a:ea typeface="DM Sans Bold"/>
              </a:rPr>
              <a:t>Recall</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DM Sans Bold"/>
                <a:ea typeface="DM Sans Bold"/>
              </a:rPr>
              <a:t>F1 score</a:t>
            </a:r>
            <a:endParaRPr b="0" lang="en-US" sz="3000" spc="-1" strike="noStrike">
              <a:solidFill>
                <a:srgbClr val="ffffff"/>
              </a:solidFill>
              <a:latin typeface="Arial"/>
            </a:endParaRPr>
          </a:p>
          <a:p>
            <a:pPr lvl="1" marL="647640" indent="-324000" defTabSz="914400">
              <a:lnSpc>
                <a:spcPts val="4201"/>
              </a:lnSpc>
              <a:buClr>
                <a:srgbClr val="ffffff"/>
              </a:buClr>
              <a:buFont typeface="Arial"/>
              <a:buChar char="•"/>
            </a:pPr>
            <a:r>
              <a:rPr b="1" lang="en-US" sz="3000" spc="-1" strike="noStrike">
                <a:solidFill>
                  <a:srgbClr val="ffffff"/>
                </a:solidFill>
                <a:latin typeface="DM Sans Bold"/>
                <a:ea typeface="DM Sans Bold"/>
              </a:rPr>
              <a:t>Confusion Matrix</a:t>
            </a:r>
            <a:endParaRPr b="0" lang="en-US" sz="3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127" name="TextBox 2"/>
          <p:cNvSpPr/>
          <p:nvPr/>
        </p:nvSpPr>
        <p:spPr>
          <a:xfrm>
            <a:off x="1395720" y="4061520"/>
            <a:ext cx="14294520" cy="4668840"/>
          </a:xfrm>
          <a:prstGeom prst="rect">
            <a:avLst/>
          </a:prstGeom>
          <a:noFill/>
          <a:ln w="0">
            <a:noFill/>
          </a:ln>
        </p:spPr>
        <p:style>
          <a:lnRef idx="0"/>
          <a:fillRef idx="0"/>
          <a:effectRef idx="0"/>
          <a:fontRef idx="minor"/>
        </p:style>
        <p:txBody>
          <a:bodyPr lIns="0" rIns="0" tIns="0" bIns="0" anchor="t">
            <a:spAutoFit/>
          </a:bodyPr>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The RNN and LSTM models successfully captured the temporal patterns in temperature data.</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LSTM slightly outperformed simple RNN due to better handling of long-term dependencies.</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TSA feature engineering (lag features, hour of day) significantly improved prediction accuracy.</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The models achieved high R² and low RMSE, indicating reliable predictions.</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Future improvements:</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Experiment with additional features (e.g., weather conditions, humidity).</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Tune hyperparameters for further optimization.</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Consider hybrid models combining TSA features with deep learning.</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Longer window for TSA</a:t>
            </a:r>
            <a:endParaRPr b="0" lang="en-US" sz="2380" spc="-1" strike="noStrike">
              <a:solidFill>
                <a:srgbClr val="ffffff"/>
              </a:solidFill>
              <a:latin typeface="Arial"/>
            </a:endParaRPr>
          </a:p>
        </p:txBody>
      </p:sp>
      <p:sp>
        <p:nvSpPr>
          <p:cNvPr id="128" name="TextBox 3"/>
          <p:cNvSpPr/>
          <p:nvPr/>
        </p:nvSpPr>
        <p:spPr>
          <a:xfrm>
            <a:off x="1028880" y="885960"/>
            <a:ext cx="156582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DM Sans Bold"/>
                <a:ea typeface="DM Sans Bold"/>
              </a:rPr>
              <a:t>Conclusion &amp; Key Takeaways</a:t>
            </a:r>
            <a:endParaRPr b="0" lang="en-US" sz="7600" spc="-1" strike="noStrike">
              <a:solidFill>
                <a:srgbClr val="ffffff"/>
              </a:solidFill>
              <a:latin typeface="Arial"/>
            </a:endParaRPr>
          </a:p>
        </p:txBody>
      </p:sp>
      <p:sp>
        <p:nvSpPr>
          <p:cNvPr id="129" name="TextBox 4"/>
          <p:cNvSpPr/>
          <p:nvPr/>
        </p:nvSpPr>
        <p:spPr>
          <a:xfrm>
            <a:off x="1395720" y="2054880"/>
            <a:ext cx="5690160" cy="1066320"/>
          </a:xfrm>
          <a:prstGeom prst="rect">
            <a:avLst/>
          </a:prstGeom>
          <a:noFill/>
          <a:ln w="0">
            <a:noFill/>
          </a:ln>
        </p:spPr>
        <p:style>
          <a:lnRef idx="0"/>
          <a:fillRef idx="0"/>
          <a:effectRef idx="0"/>
          <a:fontRef idx="minor"/>
        </p:style>
        <p:txBody>
          <a:bodyPr lIns="0" rIns="0" tIns="0" bIns="0" anchor="t">
            <a:spAutoFit/>
          </a:bodyPr>
          <a:p>
            <a:pPr algn="ctr" defTabSz="914400">
              <a:lnSpc>
                <a:spcPts val="8399"/>
              </a:lnSpc>
            </a:pPr>
            <a:r>
              <a:rPr b="1" lang="en-US" sz="6000" spc="-1" strike="noStrike">
                <a:solidFill>
                  <a:srgbClr val="ffffff"/>
                </a:solidFill>
                <a:latin typeface="DM Sans Bold"/>
                <a:ea typeface="DM Sans Bold"/>
              </a:rPr>
              <a:t>Regression</a:t>
            </a:r>
            <a:endParaRPr b="0" lang="en-US" sz="6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130" name="TextBox 2"/>
          <p:cNvSpPr/>
          <p:nvPr/>
        </p:nvSpPr>
        <p:spPr>
          <a:xfrm>
            <a:off x="1019160" y="3807720"/>
            <a:ext cx="15622200" cy="4668480"/>
          </a:xfrm>
          <a:prstGeom prst="rect">
            <a:avLst/>
          </a:prstGeom>
          <a:noFill/>
          <a:ln w="0">
            <a:noFill/>
          </a:ln>
        </p:spPr>
        <p:style>
          <a:lnRef idx="0"/>
          <a:fillRef idx="0"/>
          <a:effectRef idx="0"/>
          <a:fontRef idx="minor"/>
        </p:style>
        <p:txBody>
          <a:bodyPr lIns="0" rIns="0" tIns="0" bIns="0" anchor="t">
            <a:spAutoFit/>
          </a:bodyPr>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The classification model performed poorly: Precision, Recall, F1-score ≈ 0.375.</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Confusion matrix shows many misclassifications across classes.</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Likely causes of failure:</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Insufficient or imbalanced data for certain weather conditions.</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Hardware and time Limitations</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Model complexity may be too low for multi-class prediction.</a:t>
            </a:r>
            <a:endParaRPr b="0" lang="en-US" sz="2380" spc="-1" strike="noStrike">
              <a:solidFill>
                <a:srgbClr val="ffffff"/>
              </a:solidFill>
              <a:latin typeface="Arial"/>
            </a:endParaRPr>
          </a:p>
          <a:p>
            <a:pPr lvl="1" marL="515160" indent="-257760" defTabSz="914400">
              <a:lnSpc>
                <a:spcPts val="3342"/>
              </a:lnSpc>
              <a:buClr>
                <a:srgbClr val="ffffff"/>
              </a:buClr>
              <a:buFont typeface="Arial"/>
              <a:buChar char="•"/>
            </a:pPr>
            <a:r>
              <a:rPr b="1" lang="en-US" sz="2380" spc="-1" strike="noStrike">
                <a:solidFill>
                  <a:srgbClr val="ffffff"/>
                </a:solidFill>
                <a:latin typeface="DM Sans Bold"/>
                <a:ea typeface="DM Sans Bold"/>
              </a:rPr>
              <a:t>Next steps to improve:</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Collect more labeled data or balance the dataset.</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Add more features like humidity, gust, or pressure.</a:t>
            </a:r>
            <a:endParaRPr b="0" lang="en-US" sz="2380" spc="-1" strike="noStrike">
              <a:solidFill>
                <a:srgbClr val="ffffff"/>
              </a:solidFill>
              <a:latin typeface="Arial"/>
            </a:endParaRPr>
          </a:p>
          <a:p>
            <a:pPr lvl="2" marL="1030320" indent="-343440" defTabSz="914400">
              <a:lnSpc>
                <a:spcPts val="3342"/>
              </a:lnSpc>
              <a:buClr>
                <a:srgbClr val="ffffff"/>
              </a:buClr>
              <a:buFont typeface="Arial"/>
              <a:buChar char="⚬"/>
            </a:pPr>
            <a:r>
              <a:rPr b="1" lang="en-US" sz="2380" spc="-1" strike="noStrike">
                <a:solidFill>
                  <a:srgbClr val="ffffff"/>
                </a:solidFill>
                <a:latin typeface="DM Sans Bold"/>
                <a:ea typeface="DM Sans Bold"/>
              </a:rPr>
              <a:t>Experiment with deeper models (LSTM/1D-CNN/Transformers and Attention) or ensemble methods.</a:t>
            </a:r>
            <a:endParaRPr b="0" lang="en-US" sz="2380" spc="-1" strike="noStrike">
              <a:solidFill>
                <a:srgbClr val="ffffff"/>
              </a:solidFill>
              <a:latin typeface="Arial"/>
            </a:endParaRPr>
          </a:p>
        </p:txBody>
      </p:sp>
      <p:sp>
        <p:nvSpPr>
          <p:cNvPr id="131" name="TextBox 3"/>
          <p:cNvSpPr/>
          <p:nvPr/>
        </p:nvSpPr>
        <p:spPr>
          <a:xfrm>
            <a:off x="1028880" y="885960"/>
            <a:ext cx="15658200" cy="1350720"/>
          </a:xfrm>
          <a:prstGeom prst="rect">
            <a:avLst/>
          </a:prstGeom>
          <a:noFill/>
          <a:ln w="0">
            <a:noFill/>
          </a:ln>
        </p:spPr>
        <p:style>
          <a:lnRef idx="0"/>
          <a:fillRef idx="0"/>
          <a:effectRef idx="0"/>
          <a:fontRef idx="minor"/>
        </p:style>
        <p:txBody>
          <a:bodyPr lIns="0" rIns="0" tIns="0" bIns="0" anchor="t">
            <a:spAutoFit/>
          </a:bodyPr>
          <a:p>
            <a:pPr algn="ctr" defTabSz="914400">
              <a:lnSpc>
                <a:spcPts val="10638"/>
              </a:lnSpc>
            </a:pPr>
            <a:r>
              <a:rPr b="1" lang="en-US" sz="7600" spc="-1" strike="noStrike">
                <a:solidFill>
                  <a:srgbClr val="ffffff"/>
                </a:solidFill>
                <a:latin typeface="DM Sans Bold"/>
                <a:ea typeface="DM Sans Bold"/>
              </a:rPr>
              <a:t>Conclusion &amp; Key Takeaways</a:t>
            </a:r>
            <a:endParaRPr b="0" lang="en-US" sz="7600" spc="-1" strike="noStrike">
              <a:solidFill>
                <a:srgbClr val="ffffff"/>
              </a:solidFill>
              <a:latin typeface="Arial"/>
            </a:endParaRPr>
          </a:p>
        </p:txBody>
      </p:sp>
      <p:sp>
        <p:nvSpPr>
          <p:cNvPr id="132" name="TextBox 4"/>
          <p:cNvSpPr/>
          <p:nvPr/>
        </p:nvSpPr>
        <p:spPr>
          <a:xfrm>
            <a:off x="891720" y="2054880"/>
            <a:ext cx="6879960" cy="1066320"/>
          </a:xfrm>
          <a:prstGeom prst="rect">
            <a:avLst/>
          </a:prstGeom>
          <a:noFill/>
          <a:ln w="0">
            <a:noFill/>
          </a:ln>
        </p:spPr>
        <p:style>
          <a:lnRef idx="0"/>
          <a:fillRef idx="0"/>
          <a:effectRef idx="0"/>
          <a:fontRef idx="minor"/>
        </p:style>
        <p:txBody>
          <a:bodyPr lIns="0" rIns="0" tIns="0" bIns="0" anchor="t">
            <a:spAutoFit/>
          </a:bodyPr>
          <a:p>
            <a:pPr algn="ctr" defTabSz="914400">
              <a:lnSpc>
                <a:spcPts val="8399"/>
              </a:lnSpc>
            </a:pPr>
            <a:r>
              <a:rPr b="1" lang="en-US" sz="6000" spc="-1" strike="noStrike">
                <a:solidFill>
                  <a:srgbClr val="ffffff"/>
                </a:solidFill>
                <a:latin typeface="DM Sans Bold"/>
                <a:ea typeface="DM Sans Bold"/>
              </a:rPr>
              <a:t>Classification</a:t>
            </a:r>
            <a:endParaRPr b="0" lang="en-US" sz="6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032a64"/>
            </a:gs>
            <a:gs pos="100000">
              <a:srgbClr val="414c94"/>
            </a:gs>
          </a:gsLst>
          <a:lin ang="0"/>
        </a:gradFill>
      </p:bgPr>
    </p:bg>
    <p:spTree>
      <p:nvGrpSpPr>
        <p:cNvPr id="1" name=""/>
        <p:cNvGrpSpPr/>
        <p:nvPr/>
      </p:nvGrpSpPr>
      <p:grpSpPr>
        <a:xfrm>
          <a:off x="0" y="0"/>
          <a:ext cx="0" cy="0"/>
          <a:chOff x="0" y="0"/>
          <a:chExt cx="0" cy="0"/>
        </a:xfrm>
      </p:grpSpPr>
      <p:sp>
        <p:nvSpPr>
          <p:cNvPr id="133" name="Freeform 2"/>
          <p:cNvSpPr/>
          <p:nvPr/>
        </p:nvSpPr>
        <p:spPr>
          <a:xfrm flipV="1" rot="20438400">
            <a:off x="-5536440" y="-4330440"/>
            <a:ext cx="19148760" cy="6989040"/>
          </a:xfrm>
          <a:custGeom>
            <a:avLst/>
            <a:gdLst>
              <a:gd name="textAreaLeft" fmla="*/ 0 w 19148760"/>
              <a:gd name="textAreaRight" fmla="*/ 19149840 w 19148760"/>
              <a:gd name="textAreaTop" fmla="*/ 0 h 6989040"/>
              <a:gd name="textAreaBottom" fmla="*/ 6990120 h 6989040"/>
            </a:gdLst>
            <a:ahLst/>
            <a:rect l="textAreaLeft" t="textAreaTop" r="textAreaRight" b="textAreaBottom"/>
            <a:pathLst>
              <a:path w="19149891" h="6989710">
                <a:moveTo>
                  <a:pt x="0" y="6989710"/>
                </a:moveTo>
                <a:lnTo>
                  <a:pt x="19149891" y="6989710"/>
                </a:lnTo>
                <a:lnTo>
                  <a:pt x="19149891" y="0"/>
                </a:lnTo>
                <a:lnTo>
                  <a:pt x="0" y="0"/>
                </a:lnTo>
                <a:lnTo>
                  <a:pt x="0" y="6989710"/>
                </a:lnTo>
                <a:close/>
              </a:path>
            </a:pathLst>
          </a:custGeom>
          <a:blipFill rotWithShape="0">
            <a:blip r:embed="rId1">
              <a:alphaModFix amt="80000"/>
            </a:blip>
            <a:srcRect/>
            <a:stretch/>
          </a:blipFill>
          <a:ln w="0">
            <a:noFill/>
          </a:ln>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Arial"/>
            </a:endParaRPr>
          </a:p>
        </p:txBody>
      </p:sp>
      <p:sp>
        <p:nvSpPr>
          <p:cNvPr id="134" name="TextBox 3"/>
          <p:cNvSpPr/>
          <p:nvPr/>
        </p:nvSpPr>
        <p:spPr>
          <a:xfrm>
            <a:off x="3039840" y="1792800"/>
            <a:ext cx="10711440" cy="5205600"/>
          </a:xfrm>
          <a:prstGeom prst="rect">
            <a:avLst/>
          </a:prstGeom>
          <a:noFill/>
          <a:ln w="0">
            <a:noFill/>
          </a:ln>
        </p:spPr>
        <p:style>
          <a:lnRef idx="0"/>
          <a:fillRef idx="0"/>
          <a:effectRef idx="0"/>
          <a:fontRef idx="minor"/>
        </p:style>
        <p:txBody>
          <a:bodyPr lIns="0" rIns="0" tIns="0" bIns="0" anchor="t">
            <a:spAutoFit/>
          </a:bodyPr>
          <a:p>
            <a:pPr algn="ctr" defTabSz="914400">
              <a:lnSpc>
                <a:spcPts val="7897"/>
              </a:lnSpc>
            </a:pPr>
            <a:r>
              <a:rPr b="1" lang="en-US" sz="5640" spc="-1" strike="noStrike">
                <a:solidFill>
                  <a:srgbClr val="ffffff"/>
                </a:solidFill>
                <a:latin typeface="DM Sans Bold"/>
                <a:ea typeface="DM Sans Bold"/>
              </a:rPr>
              <a:t>Thank you for your attention!</a:t>
            </a:r>
            <a:endParaRPr b="0" lang="en-US" sz="5640" spc="-1" strike="noStrike">
              <a:solidFill>
                <a:srgbClr val="ffffff"/>
              </a:solidFill>
              <a:latin typeface="Arial"/>
            </a:endParaRPr>
          </a:p>
          <a:p>
            <a:pPr algn="ctr" defTabSz="914400">
              <a:lnSpc>
                <a:spcPts val="7897"/>
              </a:lnSpc>
            </a:pPr>
            <a:endParaRPr b="0" lang="en-US" sz="1800" spc="-1" strike="noStrike">
              <a:solidFill>
                <a:srgbClr val="ffffff"/>
              </a:solidFill>
              <a:latin typeface="Arial"/>
            </a:endParaRPr>
          </a:p>
          <a:p>
            <a:pPr algn="ctr" defTabSz="914400">
              <a:lnSpc>
                <a:spcPts val="5598"/>
              </a:lnSpc>
            </a:pPr>
            <a:r>
              <a:rPr b="1" lang="en-US" sz="4000" spc="-1" strike="noStrike">
                <a:solidFill>
                  <a:srgbClr val="ffffff"/>
                </a:solidFill>
                <a:latin typeface="DM Sans Bold"/>
                <a:ea typeface="DM Sans Bold"/>
              </a:rPr>
              <a:t>Any questions?</a:t>
            </a:r>
            <a:endParaRPr b="0" lang="en-US" sz="4000" spc="-1" strike="noStrike">
              <a:solidFill>
                <a:srgbClr val="ffffff"/>
              </a:solidFill>
              <a:latin typeface="Arial"/>
            </a:endParaRPr>
          </a:p>
          <a:p>
            <a:pPr algn="ctr" defTabSz="914400">
              <a:lnSpc>
                <a:spcPts val="5598"/>
              </a:lnSpc>
            </a:pPr>
            <a:endParaRPr b="0" lang="en-US" sz="1800" spc="-1" strike="noStrike">
              <a:solidFill>
                <a:srgbClr val="ffffff"/>
              </a:solidFill>
              <a:latin typeface="Arial"/>
            </a:endParaRPr>
          </a:p>
          <a:p>
            <a:pPr algn="ctr" defTabSz="914400">
              <a:lnSpc>
                <a:spcPts val="5598"/>
              </a:lnSpc>
            </a:pPr>
            <a:endParaRPr b="0" lang="en-US" sz="1800" spc="-1" strike="noStrike">
              <a:solidFill>
                <a:srgbClr val="ffffff"/>
              </a:solidFill>
              <a:latin typeface="Arial"/>
            </a:endParaRPr>
          </a:p>
          <a:p>
            <a:pPr algn="ctr" defTabSz="914400">
              <a:lnSpc>
                <a:spcPts val="4201"/>
              </a:lnSpc>
            </a:pPr>
            <a:r>
              <a:rPr b="0" lang="en-US" sz="3000" spc="-1" strike="noStrike">
                <a:solidFill>
                  <a:srgbClr val="ffffff"/>
                </a:solidFill>
                <a:latin typeface="DM Sans"/>
                <a:ea typeface="DM Sans"/>
              </a:rPr>
              <a:t>Github: https://github.com/Basel-Aldwairi/Temperature_TSA</a:t>
            </a:r>
            <a:endParaRPr b="0" lang="en-US" sz="30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DAG80qyp58c</dc:identifier>
  <dc:language>en-US</dc:language>
  <cp:lastModifiedBy/>
  <dcterms:modified xsi:type="dcterms:W3CDTF">2025-12-28T23:27:44Z</dcterms:modified>
  <cp:revision>3</cp:revision>
  <dc:subject/>
  <dc:title>Temperature Prediction Using Time-Series and Machine Learning Models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