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6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17814BE-6E2A-41C1-B7AC-936E7C10219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Computational Expense: Physical models are slow to run and expensive to scale for local, real-time updates.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Non-Linearity: Weather patterns are highly non-linear; small changes in wind speed or direction can lead to disproportionate changes in temperature that simple equations often miss.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Data Vulnerability: Raw data from local stations often contains "noise" or sensor malfunctions that can lead to wild inaccuracies in traditional statistical models.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Local Accuracy: Global models often miss local "micro-climates" or specific patterns unique to a city's historical behavior.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CFD6FF-D073-43E4-93BF-07A188DBEE4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Computational Expense: Physical models are slow to run and expensive to scale for local, real-time updates.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Non-Linearity: Weather patterns are highly non-linear; small changes in wind speed or direction can lead to disproportionate changes in temperature that simple equations often miss.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Data Vulnerability: Raw data from local stations often contains "noise" or sensor malfunctions that can lead to wild inaccuracies in traditional statistical models.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Local Accuracy: Global models often miss local "micro-climates" or specific patterns unique to a city's historical behavior.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5F3422-32B9-4CFD-86DC-39B858DC2EB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Write about Ridge and linear svr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C404BA-4C7C-44B7-9D17-713F31FDBBB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Random Forest &amp; XgBoost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2730CD-E025-478D-B0DE-E3AC8E277AE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SARIMA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B013B1-C237-4004-8E84-570580C3165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FAF699-C72E-4F81-B3E2-133D8A0B8F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79818C0-9A01-4F5A-920A-5C59494BF0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ECEAB32-D361-4279-BB05-A04A56C6A1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98B45DF-728F-4687-AD7F-DAEBA9168E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8564978-8EDF-4A07-9B0E-BD0F401D2E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5216760" cy="373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178680" y="2221920"/>
            <a:ext cx="5216760" cy="373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4D22260-2FF9-4C1E-8496-3A9D520E83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E51755F-371C-4DA0-8047-6B68495ABB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C64D7A4-2A2E-40B7-9FFC-E35BF09168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3084B51-00F8-44C3-8C3F-7EB7681177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1FAF930-FFE1-4624-9DAE-0EB71E10F7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0069DDC-6291-406A-BA36-7307FE16DE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1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EBDD55-A0F2-4A31-B6E0-A76A9DA3E211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10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11" name="PlaceHolder 1"/>
          <p:cNvSpPr>
            <a:spLocks noGrp="1"/>
          </p:cNvSpPr>
          <p:nvPr>
            <p:ph type="ftr" idx="4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5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5F5A6F-7749-40D7-B2CE-6AB5BF7CD8FA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6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15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68B902-64CB-45F7-97C1-124A7A2D003A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20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0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1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403BD7-A0C2-4C7E-B4EF-8BF17F8C5A47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12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29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30" name="PlaceHolder 1"/>
          <p:cNvSpPr>
            <a:spLocks noGrp="1"/>
          </p:cNvSpPr>
          <p:nvPr>
            <p:ph type="ftr" idx="13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4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03FB90-FD7D-4355-A7D8-04671DAE1448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5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34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00560" y="2221920"/>
            <a:ext cx="5216760" cy="373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9040" y="2221920"/>
            <a:ext cx="5216760" cy="373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6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7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162A85-80CF-4168-B33E-07AECEA28CB7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dt" idx="18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45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46" name="PlaceHolder 1"/>
          <p:cNvSpPr>
            <a:spLocks noGrp="1"/>
          </p:cNvSpPr>
          <p:nvPr>
            <p:ph type="ftr" idx="19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0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379ADD-6EEE-4B82-A059-C5805DD3A909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1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50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2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3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82E39F-1403-45C7-9A9F-79288CD08989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4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57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58" name="PlaceHolder 1"/>
          <p:cNvSpPr>
            <a:spLocks noGrp="1"/>
          </p:cNvSpPr>
          <p:nvPr>
            <p:ph type="ftr" idx="25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26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6630B6-408F-4706-A35E-05773E0B65DE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27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62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63" name="PlaceHolder 1"/>
          <p:cNvSpPr>
            <a:spLocks noGrp="1"/>
          </p:cNvSpPr>
          <p:nvPr>
            <p:ph type="ftr" idx="28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29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E6066A-ED27-4EE8-921E-CFF75AB90D80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0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Straight Connector 6"/>
          <p:cNvCxnSpPr/>
          <p:nvPr/>
        </p:nvCxnSpPr>
        <p:spPr>
          <a:xfrm>
            <a:off x="799920" y="723600"/>
            <a:ext cx="10592640" cy="720"/>
          </a:xfrm>
          <a:prstGeom prst="straightConnector1">
            <a:avLst/>
          </a:prstGeom>
          <a:ln w="44450">
            <a:solidFill>
              <a:srgbClr val="000000"/>
            </a:solidFill>
            <a:round/>
          </a:ln>
        </p:spPr>
      </p:cxnSp>
      <p:cxnSp>
        <p:nvCxnSpPr>
          <p:cNvPr id="67" name="Straight Connector 7"/>
          <p:cNvCxnSpPr/>
          <p:nvPr/>
        </p:nvCxnSpPr>
        <p:spPr>
          <a:xfrm>
            <a:off x="799920" y="6142680"/>
            <a:ext cx="105926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68" name="PlaceHolder 1"/>
          <p:cNvSpPr>
            <a:spLocks noGrp="1"/>
          </p:cNvSpPr>
          <p:nvPr>
            <p:ph type="ftr" idx="31"/>
          </p:nvPr>
        </p:nvSpPr>
        <p:spPr>
          <a:xfrm>
            <a:off x="704160" y="6356520"/>
            <a:ext cx="45388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32"/>
          </p:nvPr>
        </p:nvSpPr>
        <p:spPr>
          <a:xfrm>
            <a:off x="10919160" y="6356520"/>
            <a:ext cx="671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232881-513D-4553-B929-E51480C2F015}" type="slidenum">
              <a:rPr b="0" lang="en-US" sz="1800" spc="-1" strike="noStrike">
                <a:solidFill>
                  <a:schemeClr val="dk1"/>
                </a:solidFill>
                <a:latin typeface="Calisto MT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33"/>
          </p:nvPr>
        </p:nvSpPr>
        <p:spPr>
          <a:xfrm>
            <a:off x="8369280" y="6356520"/>
            <a:ext cx="2548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sto MT"/>
            </a:endParaRPr>
          </a:p>
        </p:txBody>
      </p:sp>
      <p:pic>
        <p:nvPicPr>
          <p:cNvPr id="78" name="Picture 3" descr=""/>
          <p:cNvPicPr/>
          <p:nvPr/>
        </p:nvPicPr>
        <p:blipFill>
          <a:blip r:embed="rId1"/>
          <a:srcRect l="0" t="19644" r="0" b="0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79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23000" y="423000"/>
            <a:ext cx="6857280" cy="600984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26000">
                <a:srgbClr val="000000">
                  <a:alpha val="17000"/>
                </a:srgbClr>
              </a:gs>
              <a:gs pos="46000">
                <a:srgbClr val="000000">
                  <a:alpha val="31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13920" y="908640"/>
            <a:ext cx="5229720" cy="40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300" spc="26" strike="noStrike" cap="all">
                <a:solidFill>
                  <a:srgbClr val="cccccc"/>
                </a:solidFill>
                <a:latin typeface="Univers Condensed"/>
              </a:rPr>
              <a:t>Machine Learning Methods for Weather Forecasting</a:t>
            </a:r>
            <a:endParaRPr b="0" lang="en-US" sz="5300" spc="-1" strike="noStrike">
              <a:solidFill>
                <a:srgbClr val="cccccc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313920" y="4791240"/>
            <a:ext cx="3792600" cy="81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cccccc"/>
                </a:solidFill>
                <a:latin typeface="Calisto MT"/>
              </a:rPr>
              <a:t>A comprehensive overview of various machine learning methods utilized in diverse ways to forecast the weather.</a:t>
            </a:r>
            <a:endParaRPr b="0" lang="en-US" sz="2200" spc="-1" strike="noStrike">
              <a:solidFill>
                <a:srgbClr val="cccccc"/>
              </a:solidFill>
              <a:latin typeface="Arial"/>
            </a:endParaRPr>
          </a:p>
        </p:txBody>
      </p:sp>
      <p:cxnSp>
        <p:nvCxnSpPr>
          <p:cNvPr id="82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8840" y="727200"/>
            <a:ext cx="1639080" cy="720"/>
          </a:xfrm>
          <a:prstGeom prst="straightConnector1">
            <a:avLst/>
          </a:prstGeom>
          <a:ln w="44450">
            <a:solidFill>
              <a:srgbClr val="ffffff"/>
            </a:solidFill>
            <a:round/>
          </a:ln>
        </p:spPr>
      </p:cxnSp>
      <p:sp>
        <p:nvSpPr>
          <p:cNvPr id="83" name="TextBox 4"/>
          <p:cNvSpPr/>
          <p:nvPr/>
        </p:nvSpPr>
        <p:spPr>
          <a:xfrm>
            <a:off x="313920" y="5668920"/>
            <a:ext cx="387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Basel Al-Dwairi </a:t>
            </a: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	</a:t>
            </a: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20221502065</a:t>
            </a:r>
            <a:br>
              <a:rPr sz="1800"/>
            </a:b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Hazem Arar</a:t>
            </a: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	</a:t>
            </a: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20221502041</a:t>
            </a:r>
            <a:br>
              <a:rPr sz="1800"/>
            </a:b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Omar Alamssi</a:t>
            </a: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	</a:t>
            </a:r>
            <a:r>
              <a:rPr b="0" lang="en-US" sz="1800" spc="-1" strike="noStrike">
                <a:solidFill>
                  <a:srgbClr val="cccccc"/>
                </a:solidFill>
                <a:latin typeface="Calisto MT"/>
              </a:rPr>
              <a:t>20229502031</a:t>
            </a:r>
            <a:endParaRPr b="0" lang="en-US" sz="1800" spc="-1" strike="noStrike">
              <a:solidFill>
                <a:srgbClr val="cccccc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7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Agenda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Problem Statement and Proposed Solution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Data Sourcing Methodology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Data Preprocessing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EDA Overview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Model Implementations 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Model Implementations II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Model Implementations III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Model Implementations IIII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Conclusion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Problem Statement and Proposed Solution-1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Weather forecasting involves collecting data about the current state of the atmosphere, land, and ocean, then using meteorology to project how the atmosphere will change at a given place. This is done using computer-based models that take many atmospheric factors into account, with human input to refine the forecasts.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Core problems include: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Computational Expense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Non-Linearity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Data Vulnerability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Local Accuracy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Problem Statement and Proposed Solution-2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Our Solution!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The usage of Supervised ML (Machine Learning) and TSA (Time Series Analysis) to create a more efficient forecasting engine. Rather than simulating complex physical models that represent the entire atmosphere, we train a model to “learn” specific historical data relevant to our Location and need.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Four proposed solution will be discussed.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Data Sourcing Methodology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Data is retrieved from IBM/Weather Channel API.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Dynamically scrape URLs by injecting various specific locations and dates.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Libraries Used: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- requests, bs4, pandas, json, matplotlib, numpy, tqdm, sys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Data Preprocessing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Data Loading and String Cleaning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Temporal Standardization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Data Flattening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EDA Overview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Cyclical Feature Engineering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Outlier Detection and Error Correction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Categorical Encoding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4" descr="Temperature mapped along date/time&#10;"/>
          <p:cNvPicPr/>
          <p:nvPr/>
        </p:nvPicPr>
        <p:blipFill>
          <a:blip r:embed="rId1"/>
          <a:stretch/>
        </p:blipFill>
        <p:spPr>
          <a:xfrm>
            <a:off x="6962760" y="896040"/>
            <a:ext cx="3932640" cy="2032560"/>
          </a:xfrm>
          <a:prstGeom prst="rect">
            <a:avLst/>
          </a:prstGeom>
          <a:ln w="0">
            <a:noFill/>
          </a:ln>
        </p:spPr>
      </p:pic>
      <p:sp>
        <p:nvSpPr>
          <p:cNvPr id="97" name="TextBox 5"/>
          <p:cNvSpPr/>
          <p:nvPr/>
        </p:nvSpPr>
        <p:spPr>
          <a:xfrm>
            <a:off x="7900920" y="292932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alisto MT"/>
              </a:rPr>
              <a:t>Temperature mapped along date/time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7" descr=""/>
          <p:cNvPicPr/>
          <p:nvPr/>
        </p:nvPicPr>
        <p:blipFill>
          <a:blip r:embed="rId2"/>
          <a:stretch/>
        </p:blipFill>
        <p:spPr>
          <a:xfrm>
            <a:off x="7183800" y="3201120"/>
            <a:ext cx="3490920" cy="2655000"/>
          </a:xfrm>
          <a:prstGeom prst="rect">
            <a:avLst/>
          </a:prstGeom>
          <a:ln w="0">
            <a:noFill/>
          </a:ln>
        </p:spPr>
      </p:pic>
      <p:sp>
        <p:nvSpPr>
          <p:cNvPr id="99" name="TextBox 8"/>
          <p:cNvSpPr/>
          <p:nvPr/>
        </p:nvSpPr>
        <p:spPr>
          <a:xfrm>
            <a:off x="8366760" y="5672160"/>
            <a:ext cx="12610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alisto MT"/>
              </a:rPr>
              <a:t>Temperature</a:t>
            </a: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 </a:t>
            </a:r>
            <a:r>
              <a:rPr b="0" lang="en-US" sz="900" spc="-1" strike="noStrike">
                <a:solidFill>
                  <a:schemeClr val="dk1"/>
                </a:solidFill>
                <a:latin typeface="Calisto MT"/>
              </a:rPr>
              <a:t>Boxplot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EDA Overview-2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10" descr=""/>
          <p:cNvPicPr/>
          <p:nvPr/>
        </p:nvPicPr>
        <p:blipFill>
          <a:blip r:embed="rId1"/>
          <a:stretch/>
        </p:blipFill>
        <p:spPr>
          <a:xfrm>
            <a:off x="910440" y="1817640"/>
            <a:ext cx="4879800" cy="4125240"/>
          </a:xfrm>
          <a:prstGeom prst="rect">
            <a:avLst/>
          </a:prstGeom>
          <a:ln w="0">
            <a:noFill/>
          </a:ln>
        </p:spPr>
      </p:pic>
      <p:pic>
        <p:nvPicPr>
          <p:cNvPr id="102" name="Picture 12" descr=""/>
          <p:cNvPicPr/>
          <p:nvPr/>
        </p:nvPicPr>
        <p:blipFill>
          <a:blip r:embed="rId2"/>
          <a:stretch/>
        </p:blipFill>
        <p:spPr>
          <a:xfrm>
            <a:off x="6791040" y="1817640"/>
            <a:ext cx="3848040" cy="352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 lnSpcReduction="20000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Model Implementations I </a:t>
            </a:r>
            <a:br>
              <a:rPr sz="4000"/>
            </a:b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Linear &amp; Regularized Regression</a:t>
            </a:r>
            <a:br>
              <a:rPr sz="4000"/>
            </a:b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Picture 3" descr=""/>
          <p:cNvPicPr/>
          <p:nvPr/>
        </p:nvPicPr>
        <p:blipFill>
          <a:blip r:embed="rId1"/>
          <a:stretch/>
        </p:blipFill>
        <p:spPr>
          <a:xfrm>
            <a:off x="700560" y="2202840"/>
            <a:ext cx="4841640" cy="2349360"/>
          </a:xfrm>
          <a:prstGeom prst="rect">
            <a:avLst/>
          </a:prstGeom>
          <a:ln w="0">
            <a:noFill/>
          </a:ln>
        </p:spPr>
      </p:pic>
      <p:pic>
        <p:nvPicPr>
          <p:cNvPr id="105" name="Picture 4" descr=""/>
          <p:cNvPicPr/>
          <p:nvPr/>
        </p:nvPicPr>
        <p:blipFill>
          <a:blip r:embed="rId2"/>
          <a:stretch/>
        </p:blipFill>
        <p:spPr>
          <a:xfrm>
            <a:off x="6430680" y="2202840"/>
            <a:ext cx="4960440" cy="24256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6" name="Table 5"/>
          <p:cNvGraphicFramePr/>
          <p:nvPr/>
        </p:nvGraphicFramePr>
        <p:xfrm>
          <a:off x="4518720" y="4636080"/>
          <a:ext cx="3053880" cy="1611360"/>
        </p:xfrm>
        <a:graphic>
          <a:graphicData uri="http://schemas.openxmlformats.org/drawingml/2006/table">
            <a:tbl>
              <a:tblPr/>
              <a:tblGrid>
                <a:gridCol w="1527120"/>
                <a:gridCol w="15271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RIDGE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LinearSVM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0.892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0.880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1.187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1.185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0.977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0.97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Model Implementations II</a:t>
            </a:r>
            <a:br>
              <a:rPr sz="4000"/>
            </a:b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Ensemble &amp; Tree-Based Models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-Hist Gradient Boosting Regressor from Scikit-Learn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-Random Forest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Picture 4" descr=""/>
          <p:cNvPicPr/>
          <p:nvPr/>
        </p:nvPicPr>
        <p:blipFill>
          <a:blip r:embed="rId1"/>
          <a:stretch/>
        </p:blipFill>
        <p:spPr>
          <a:xfrm>
            <a:off x="7743960" y="1585080"/>
            <a:ext cx="3533040" cy="211968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6" descr=""/>
          <p:cNvPicPr/>
          <p:nvPr/>
        </p:nvPicPr>
        <p:blipFill>
          <a:blip r:embed="rId2"/>
          <a:stretch/>
        </p:blipFill>
        <p:spPr>
          <a:xfrm>
            <a:off x="7743960" y="3613320"/>
            <a:ext cx="4066560" cy="24397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11" name="Table 7"/>
          <p:cNvGraphicFramePr/>
          <p:nvPr/>
        </p:nvGraphicFramePr>
        <p:xfrm>
          <a:off x="800280" y="3795840"/>
          <a:ext cx="5700960" cy="1611360"/>
        </p:xfrm>
        <a:graphic>
          <a:graphicData uri="http://schemas.openxmlformats.org/drawingml/2006/table">
            <a:tbl>
              <a:tblPr/>
              <a:tblGrid>
                <a:gridCol w="1900440"/>
                <a:gridCol w="1900440"/>
                <a:gridCol w="1900440"/>
              </a:tblGrid>
              <a:tr h="370800"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sto MT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XGBOOST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RandomForest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MAE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0.65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0.675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RMSE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2.96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3.19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R2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0.863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Model Implementations III</a:t>
            </a:r>
            <a:br>
              <a:rPr sz="4000"/>
            </a:b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Dedicated Time Series Analysis (TSA)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Picture 3" descr=""/>
          <p:cNvPicPr/>
          <p:nvPr/>
        </p:nvPicPr>
        <p:blipFill>
          <a:blip r:embed="rId1"/>
          <a:stretch/>
        </p:blipFill>
        <p:spPr>
          <a:xfrm>
            <a:off x="6270120" y="2051280"/>
            <a:ext cx="5121360" cy="2411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14" name="Table 4"/>
          <p:cNvGraphicFramePr/>
          <p:nvPr/>
        </p:nvGraphicFramePr>
        <p:xfrm>
          <a:off x="9053640" y="4592160"/>
          <a:ext cx="1526760" cy="1611360"/>
        </p:xfrm>
        <a:graphic>
          <a:graphicData uri="http://schemas.openxmlformats.org/drawingml/2006/table">
            <a:tbl>
              <a:tblPr/>
              <a:tblGrid>
                <a:gridCol w="15271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SARIMA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7.773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9.533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-7.487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Table 5"/>
          <p:cNvGraphicFramePr/>
          <p:nvPr/>
        </p:nvGraphicFramePr>
        <p:xfrm>
          <a:off x="7526160" y="4592160"/>
          <a:ext cx="1526760" cy="1611360"/>
        </p:xfrm>
        <a:graphic>
          <a:graphicData uri="http://schemas.openxmlformats.org/drawingml/2006/table">
            <a:tbl>
              <a:tblPr/>
              <a:tblGrid>
                <a:gridCol w="1527120"/>
              </a:tblGrid>
              <a:tr h="370800"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sto MT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MAE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RMSE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R2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6" name="TextBox 6"/>
          <p:cNvSpPr/>
          <p:nvPr/>
        </p:nvSpPr>
        <p:spPr>
          <a:xfrm>
            <a:off x="1019160" y="2495520"/>
            <a:ext cx="46285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Despite hyperparameter tuning, the SARIMAX model exhibited unstable forecasts and negative explanatory power. This behavior indicates that linear seasonal assumptions and fixed-order autoregressive structures are insufficient for capturing the nonlinear and evolving dynamics of hourly temperature data. Similar limitations of SARIMA-based models have been reported in high-frequency meteorological forecasting tasks.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Model Implementations IIII</a:t>
            </a:r>
            <a:br>
              <a:rPr sz="4000"/>
            </a:b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Hybrid (Regression + TSA)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560" cy="373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-HistGradientBoostingRegressor from Scikit-Learn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-Lag Features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-Rolling Statistics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200" spc="-1" strike="noStrike">
                <a:solidFill>
                  <a:schemeClr val="dk1"/>
                </a:solidFill>
                <a:latin typeface="Calisto MT"/>
              </a:rPr>
              <a:t>MAE:  0.655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200" spc="-1" strike="noStrike">
                <a:solidFill>
                  <a:schemeClr val="dk1"/>
                </a:solidFill>
                <a:latin typeface="Calisto MT"/>
              </a:rPr>
              <a:t>RMSE: 0.881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200" spc="-1" strike="noStrike">
                <a:solidFill>
                  <a:schemeClr val="dk1"/>
                </a:solidFill>
                <a:latin typeface="Calisto MT"/>
              </a:rPr>
              <a:t>R2 Score: 0.987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4" descr=""/>
          <p:cNvPicPr/>
          <p:nvPr/>
        </p:nvPicPr>
        <p:blipFill>
          <a:blip r:embed="rId1"/>
          <a:stretch/>
        </p:blipFill>
        <p:spPr>
          <a:xfrm>
            <a:off x="5595480" y="3522960"/>
            <a:ext cx="6081480" cy="202680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6" descr=""/>
          <p:cNvPicPr/>
          <p:nvPr/>
        </p:nvPicPr>
        <p:blipFill>
          <a:blip r:embed="rId2"/>
          <a:stretch/>
        </p:blipFill>
        <p:spPr>
          <a:xfrm>
            <a:off x="7039080" y="1052640"/>
            <a:ext cx="4352040" cy="217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560" cy="13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26" strike="noStrike" cap="all">
                <a:solidFill>
                  <a:schemeClr val="dk1"/>
                </a:solidFill>
                <a:latin typeface="Univers Condensed"/>
              </a:rPr>
              <a:t>Conclusion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2" name="Content Placeholder 7"/>
          <p:cNvGraphicFramePr/>
          <p:nvPr/>
        </p:nvGraphicFramePr>
        <p:xfrm>
          <a:off x="700200" y="1671840"/>
          <a:ext cx="10689480" cy="2015280"/>
        </p:xfrm>
        <a:graphic>
          <a:graphicData uri="http://schemas.openxmlformats.org/drawingml/2006/table">
            <a:tbl>
              <a:tblPr/>
              <a:tblGrid>
                <a:gridCol w="1527120"/>
                <a:gridCol w="1527120"/>
                <a:gridCol w="1527120"/>
                <a:gridCol w="1527120"/>
                <a:gridCol w="1527120"/>
                <a:gridCol w="1527120"/>
                <a:gridCol w="1527120"/>
              </a:tblGrid>
              <a:tr h="370800"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sto MT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RIDGE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LinearSVM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RandomForest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XGBoost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SARIMA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sto MT"/>
                        </a:rPr>
                        <a:t>HYBRID 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MAE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0.892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0.880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0.675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0.65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7.773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10000"/>
                        </a:lnSpc>
                        <a:spcBef>
                          <a:spcPts val="1001"/>
                        </a:spcBef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0.655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RMSE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1.187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1.185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3.19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2.96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9.533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10000"/>
                        </a:lnSpc>
                        <a:spcBef>
                          <a:spcPts val="1001"/>
                        </a:spcBef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0.881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R2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0.977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0.97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0.863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-7.487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10000"/>
                        </a:lnSpc>
                        <a:spcBef>
                          <a:spcPts val="1001"/>
                        </a:spcBef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Calisto MT"/>
                        </a:rPr>
                        <a:t>0.987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23" name="Picture 8" descr=""/>
          <p:cNvPicPr/>
          <p:nvPr/>
        </p:nvPicPr>
        <p:blipFill>
          <a:blip r:embed="rId1"/>
          <a:stretch/>
        </p:blipFill>
        <p:spPr>
          <a:xfrm>
            <a:off x="3378960" y="3575880"/>
            <a:ext cx="5333400" cy="218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Application>LibreOffice/24.2.7.2$Linux_X86_64 LibreOffice_project/420$Build-2</Application>
  <AppVersion>15.0000</AppVersion>
  <Words>663</Words>
  <Paragraphs>128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2025-12-28T17:15:40Z</dcterms:created>
  <dc:creator>Arar, Hazem | Student</dc:creator>
  <dc:description/>
  <dc:language>en-US</dc:language>
  <cp:lastModifiedBy/>
  <dcterms:modified xsi:type="dcterms:W3CDTF">2025-12-28T23:27:13Z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