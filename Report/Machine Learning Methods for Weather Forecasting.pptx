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1.jpeg" ContentType="image/jpeg"/>
  <Override PartName="/ppt/media/image10.png" ContentType="image/png"/>
  <Override PartName="/ppt/media/image6.png" ContentType="image/png"/>
  <Override PartName="/ppt/media/image15.png" ContentType="image/png"/>
  <Override PartName="/ppt/media/image14.png" ContentType="image/png"/>
  <Override PartName="/ppt/media/image5.png" ContentType="image/png"/>
  <Override PartName="/ppt/media/image16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17.png" ContentType="image/png"/>
  <Override PartName="/ppt/media/image8.png" ContentType="image/png"/>
  <Override PartName="/ppt/media/image12.png" ContentType="image/png"/>
  <Override PartName="/ppt/media/image3.png" ContentType="image/png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1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CEB7B8C-63BC-4901-A936-3C7422C0DFC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Computational Expense: Physical models are slow to run and expensive to scale for local, real-time updates.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Non-Linearity: Weather patterns are highly non-linear; small changes in wind speed or direction can lead to disproportionate changes in temperature that simple equations often miss.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Data Vulnerability: Raw data from local stations often contains "noise" or sensor malfunctions that can lead to wild inaccuracies in traditional statistical models.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Local Accuracy: Global models often miss local "micro-climates" or specific patterns unique to a city's historical behavior.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7C52FF-807F-40BE-B22F-06C1A7C0C3E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Computational Expense: Physical models are slow to run and expensive to scale for local, real-time updates.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Non-Linearity: Weather patterns are highly non-linear; small changes in wind speed or direction can lead to disproportionate changes in temperature that simple equations often miss.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Data Vulnerability: Raw data from local stations often contains "noise" or sensor malfunctions that can lead to wild inaccuracies in traditional statistical models.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Local Accuracy: Global models often miss local "micro-climates" or specific patterns unique to a city's historical behavior.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81C87A-0DD5-4CFE-BD53-DB9BED2BC54C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Write about Ridge and linear svr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2428D1-806D-468F-9578-561A0A8D9FFF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SARIMA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731EE3-13A5-4B02-B38A-3C72631F56A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Random Forest &amp; XgBoost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E91656-4060-4899-84F2-D11FBE27B4B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700560" y="222192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0ACDB7E-B63A-4F65-9DB2-2A1022ACBF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04E9E8-F443-4F26-B048-62103CB9F7E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3C3671A-91EE-4362-9241-444E8AB3011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700560" y="222192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0216A1A-BACC-48F6-82AA-4199AD96D2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D19B5C9-9879-417A-B890-3D56442B2E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700560" y="2221920"/>
            <a:ext cx="5216400" cy="373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/>
          </p:nvPr>
        </p:nvSpPr>
        <p:spPr>
          <a:xfrm>
            <a:off x="6178320" y="2221920"/>
            <a:ext cx="5216400" cy="373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A2F4B51-3B1C-4218-AA24-DB95A604C3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FE6C578-92DE-4EFA-8040-39B26A6458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957FDBA-7562-4371-815E-E3C81C9BACC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0AC444F-C4B5-457B-8869-F6404DD05A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7824D31-72E7-4553-9C2B-542262E3DB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B41FF68-6A2A-4ACA-B068-917D65C03A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0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1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9BFDF3-0FDE-440D-93B6-222DD41B2257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10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11" name="PlaceHolder 1"/>
          <p:cNvSpPr>
            <a:spLocks noGrp="1"/>
          </p:cNvSpPr>
          <p:nvPr>
            <p:ph type="ftr" idx="4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ldNum" idx="5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3E1ED0-677B-421A-8C92-9FDC553C4090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6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15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16" name="PlaceHolder 1"/>
          <p:cNvSpPr>
            <a:spLocks noGrp="1"/>
          </p:cNvSpPr>
          <p:nvPr>
            <p:ph type="ftr" idx="7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8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F4AFA2-6F4E-4786-A2FA-28832D845725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9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20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00560" y="222192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0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1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8DD04B-A1E1-425B-BA90-EBF03ECC5F73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12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29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30" name="PlaceHolder 1"/>
          <p:cNvSpPr>
            <a:spLocks noGrp="1"/>
          </p:cNvSpPr>
          <p:nvPr>
            <p:ph type="ftr" idx="13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14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347D72-E722-469F-840E-6549D4743AD2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5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34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00560" y="2221920"/>
            <a:ext cx="5216400" cy="373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6178680" y="2221920"/>
            <a:ext cx="5216400" cy="373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16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17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21E45A-4841-4662-AB5A-2A2AA0A1BF8C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dt" idx="18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45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46" name="PlaceHolder 1"/>
          <p:cNvSpPr>
            <a:spLocks noGrp="1"/>
          </p:cNvSpPr>
          <p:nvPr>
            <p:ph type="ftr" idx="19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20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7F4176-4603-42E7-B4DB-BE3310711405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1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9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50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2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3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CCC5C3-A9AA-420F-9A23-1940651C3BD9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4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57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58" name="PlaceHolder 1"/>
          <p:cNvSpPr>
            <a:spLocks noGrp="1"/>
          </p:cNvSpPr>
          <p:nvPr>
            <p:ph type="ftr" idx="25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26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CF5BD0-6203-4EB7-B438-E65D5949D6FC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27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62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63" name="PlaceHolder 1"/>
          <p:cNvSpPr>
            <a:spLocks noGrp="1"/>
          </p:cNvSpPr>
          <p:nvPr>
            <p:ph type="ftr" idx="28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29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07FC0A-1A1C-40FD-B33B-2AAB37A09E0B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30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Straight Connector 6"/>
          <p:cNvCxnSpPr/>
          <p:nvPr/>
        </p:nvCxnSpPr>
        <p:spPr>
          <a:xfrm>
            <a:off x="799920" y="723600"/>
            <a:ext cx="10593360" cy="1440"/>
          </a:xfrm>
          <a:prstGeom prst="straightConnector1">
            <a:avLst/>
          </a:prstGeom>
          <a:ln w="44450">
            <a:solidFill>
              <a:srgbClr val="000000"/>
            </a:solidFill>
            <a:round/>
          </a:ln>
        </p:spPr>
      </p:cxnSp>
      <p:cxnSp>
        <p:nvCxnSpPr>
          <p:cNvPr id="67" name="Straight Connector 7"/>
          <p:cNvCxnSpPr/>
          <p:nvPr/>
        </p:nvCxnSpPr>
        <p:spPr>
          <a:xfrm>
            <a:off x="799920" y="6142680"/>
            <a:ext cx="10593360" cy="144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68" name="PlaceHolder 1"/>
          <p:cNvSpPr>
            <a:spLocks noGrp="1"/>
          </p:cNvSpPr>
          <p:nvPr>
            <p:ph type="ftr" idx="31"/>
          </p:nvPr>
        </p:nvSpPr>
        <p:spPr>
          <a:xfrm>
            <a:off x="704160" y="6356520"/>
            <a:ext cx="45381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32"/>
          </p:nvPr>
        </p:nvSpPr>
        <p:spPr>
          <a:xfrm>
            <a:off x="10919160" y="6356520"/>
            <a:ext cx="671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Calisto M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AE3E25-8AE4-494D-AFEC-54C1683B1A50}" type="slidenum">
              <a:rPr b="0" lang="en-US" sz="1800" spc="-1" strike="noStrike">
                <a:solidFill>
                  <a:schemeClr val="dk1"/>
                </a:solidFill>
                <a:latin typeface="Calisto MT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dt" idx="33"/>
          </p:nvPr>
        </p:nvSpPr>
        <p:spPr>
          <a:xfrm>
            <a:off x="8369280" y="6356520"/>
            <a:ext cx="25480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wunderground.com/" TargetMode="External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sto MT"/>
            </a:endParaRPr>
          </a:p>
        </p:txBody>
      </p:sp>
      <p:pic>
        <p:nvPicPr>
          <p:cNvPr id="78" name="Picture 3" descr=""/>
          <p:cNvPicPr/>
          <p:nvPr/>
        </p:nvPicPr>
        <p:blipFill>
          <a:blip r:embed="rId1"/>
          <a:srcRect l="0" t="19644" r="0" b="0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ln w="0">
            <a:noFill/>
          </a:ln>
        </p:spPr>
      </p:pic>
      <p:sp>
        <p:nvSpPr>
          <p:cNvPr id="79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-422280" y="422280"/>
            <a:ext cx="6856560" cy="600912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26000">
                <a:srgbClr val="000000">
                  <a:alpha val="17000"/>
                </a:srgbClr>
              </a:gs>
              <a:gs pos="46000">
                <a:srgbClr val="000000">
                  <a:alpha val="31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Calisto MT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13920" y="908640"/>
            <a:ext cx="5229000" cy="4003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300" spc="21" strike="noStrike" cap="all">
                <a:solidFill>
                  <a:srgbClr val="cccccc"/>
                </a:solidFill>
                <a:latin typeface="Univers Condensed"/>
              </a:rPr>
              <a:t>Machine Learning Methods for Weather Forecasting</a:t>
            </a:r>
            <a:endParaRPr b="0" lang="en-US" sz="5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ubTitle"/>
          </p:nvPr>
        </p:nvSpPr>
        <p:spPr>
          <a:xfrm>
            <a:off x="313920" y="4791240"/>
            <a:ext cx="3791880" cy="81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75000" lnSpcReduction="10000"/>
          </a:bodyPr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cccccc"/>
                </a:solidFill>
                <a:latin typeface="Calisto MT"/>
              </a:rPr>
              <a:t>A comprehensive overview of various machine learning methods utilized in diverse ways to forecast the weather.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82" name="Straight Connecto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8840" y="727200"/>
            <a:ext cx="1639800" cy="1440"/>
          </a:xfrm>
          <a:prstGeom prst="straightConnector1">
            <a:avLst/>
          </a:prstGeom>
          <a:ln w="44450">
            <a:solidFill>
              <a:srgbClr val="ffffff"/>
            </a:solidFill>
            <a:round/>
          </a:ln>
        </p:spPr>
      </p:cxnSp>
      <p:sp>
        <p:nvSpPr>
          <p:cNvPr id="83" name="TextBox 4"/>
          <p:cNvSpPr/>
          <p:nvPr/>
        </p:nvSpPr>
        <p:spPr>
          <a:xfrm>
            <a:off x="313920" y="5668920"/>
            <a:ext cx="38743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Calisto MT"/>
              </a:rPr>
              <a:t>Basel Al-Dwairi </a:t>
            </a:r>
            <a:r>
              <a:rPr b="0" lang="en-US" sz="1800" spc="-1" strike="noStrike">
                <a:solidFill>
                  <a:srgbClr val="cccccc"/>
                </a:solidFill>
                <a:latin typeface="Calisto MT"/>
              </a:rPr>
              <a:t>	</a:t>
            </a:r>
            <a:r>
              <a:rPr b="0" lang="en-US" sz="1800" spc="-1" strike="noStrike">
                <a:solidFill>
                  <a:srgbClr val="cccccc"/>
                </a:solidFill>
                <a:latin typeface="Calisto MT"/>
              </a:rPr>
              <a:t>20221502065</a:t>
            </a:r>
            <a:br>
              <a:rPr sz="1800"/>
            </a:br>
            <a:r>
              <a:rPr b="0" lang="en-US" sz="1800" spc="-1" strike="noStrike">
                <a:solidFill>
                  <a:srgbClr val="cccccc"/>
                </a:solidFill>
                <a:latin typeface="Calisto MT"/>
              </a:rPr>
              <a:t>Hazem Arar</a:t>
            </a:r>
            <a:r>
              <a:rPr b="0" lang="en-US" sz="1800" spc="-1" strike="noStrike">
                <a:solidFill>
                  <a:srgbClr val="cccccc"/>
                </a:solidFill>
                <a:latin typeface="Calisto MT"/>
              </a:rPr>
              <a:t>	</a:t>
            </a:r>
            <a:r>
              <a:rPr b="0" lang="en-US" sz="1800" spc="-1" strike="noStrike">
                <a:solidFill>
                  <a:srgbClr val="cccccc"/>
                </a:solidFill>
                <a:latin typeface="Calisto MT"/>
              </a:rPr>
              <a:t>20221502041</a:t>
            </a:r>
            <a:br>
              <a:rPr sz="1800"/>
            </a:br>
            <a:r>
              <a:rPr b="0" lang="en-US" sz="1800" spc="-1" strike="noStrike">
                <a:solidFill>
                  <a:srgbClr val="cccccc"/>
                </a:solidFill>
                <a:latin typeface="Calisto MT"/>
              </a:rPr>
              <a:t>Omar Alamssi</a:t>
            </a:r>
            <a:r>
              <a:rPr b="0" lang="en-US" sz="1800" spc="-1" strike="noStrike">
                <a:solidFill>
                  <a:srgbClr val="cccccc"/>
                </a:solidFill>
                <a:latin typeface="Calisto MT"/>
              </a:rPr>
              <a:t>	</a:t>
            </a:r>
            <a:r>
              <a:rPr b="0" lang="en-US" sz="1800" spc="-1" strike="noStrike">
                <a:solidFill>
                  <a:srgbClr val="cccccc"/>
                </a:solidFill>
                <a:latin typeface="Calisto MT"/>
              </a:rPr>
              <a:t>20229502031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10">
                                  <p:stCondLst>
                                    <p:cond delay="1000"/>
                                  </p:stCondLst>
                                  <p:iterate type="el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7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Agenda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700560" y="222192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7222"/>
          </a:bodyPr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Problem Statement and Proposed Solution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Data Sourcing Methodology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Data Preprocessing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EDA Overview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Model Implementations I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Model Implementations II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Model Implementations III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Model Implementations IIII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Conclusion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Problem Statement and Proposed Solution-1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00560" y="222192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Weather forecasting involves collecting data about the current state of the atmosphere, land, and ocean, then using meteorology to project how the atmosphere will change at a given place. This is done using computer-based models that take many atmospheric factors into account, with human input to refine the forecasts.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Core problems include: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11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Computational Expense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11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Non-Linearity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11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Data Vulnerability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11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Local Accuracy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Problem Statement and Proposed Solution-2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700560" y="222192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Our Solution!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The usage of Supervised ML (Machine Learning) and TSA (Time Series Analysis) to create a more efficient forecasting engine. Rather than simulating complex physical models that represent the entire atmosphere, we train a model to “learn” specific historical data relevant to our Location and need.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Four proposed solution will be discussed.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Data Sourcing Methodology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700560" y="179280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Data is retrieved from a public API for Weather Underground. </a:t>
            </a:r>
            <a:r>
              <a:rPr b="0" lang="en-US" sz="2000" spc="-1" strike="noStrike" u="sng">
                <a:solidFill>
                  <a:schemeClr val="dk1"/>
                </a:solidFill>
                <a:uFillTx/>
                <a:latin typeface="Calisto MT"/>
                <a:hlinkClick r:id="rId1"/>
              </a:rPr>
              <a:t>https://www.wunderground.com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Dynamically scraped URLs for API GET requests were called by injecting various specific Dates for Amman in a specific format.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API Responses were parsed by JSON, and a script was used to get all the important data.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Data Sourcing Methodology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511560" y="174780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The scrapped data was in the form of 24 hrs per dat per row, which insentivised flattening the Data into one day per row during preprocessing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Date was used as the index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 defTabSz="914400">
              <a:lnSpc>
                <a:spcPct val="110000"/>
              </a:lnSpc>
              <a:spcBef>
                <a:spcPts val="1001"/>
              </a:spcBef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The Data was then saved to a csv file to undergo EDA and pre-processing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Libraries Used for scrapping: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- requests, pandas, json, matplotlib, numpy, tqdm, re, datetime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Data Sourcing Methodology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700560" y="179280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The scraped Data had the following data: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Datetime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Temperature (C)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Wind Speed(mi/h) &amp; direction (degrees)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Pressure (Pa)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Gust (NULL)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Dew point(C)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1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Condition (Str: ‘Fair’, ‘Snowy’, etc.)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Data Preprocessing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914400" y="2220480"/>
            <a:ext cx="9372600" cy="3265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Steps: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Flattening and Converting to Datetime indexing &amp; temporal standerization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Data became hourly instead of daily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Regex was used to extract Conditions from long string where str.split() failed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Removing NULL variables (Gust)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Converting Wind direction into its sine and cosine components from Degrees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Converting categorical Conditions into one-hot encoding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Data Sourcing Methodology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700560" y="179280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Data before flattening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After flattening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0" name="" descr=""/>
          <p:cNvPicPr/>
          <p:nvPr/>
        </p:nvPicPr>
        <p:blipFill>
          <a:blip r:embed="rId1"/>
          <a:stretch/>
        </p:blipFill>
        <p:spPr>
          <a:xfrm>
            <a:off x="700560" y="2514600"/>
            <a:ext cx="6409080" cy="2514600"/>
          </a:xfrm>
          <a:prstGeom prst="rect">
            <a:avLst/>
          </a:prstGeom>
          <a:ln w="0">
            <a:noFill/>
          </a:ln>
        </p:spPr>
      </p:pic>
      <p:pic>
        <p:nvPicPr>
          <p:cNvPr id="101" name="" descr=""/>
          <p:cNvPicPr/>
          <p:nvPr/>
        </p:nvPicPr>
        <p:blipFill>
          <a:blip r:embed="rId2"/>
          <a:stretch/>
        </p:blipFill>
        <p:spPr>
          <a:xfrm>
            <a:off x="4833000" y="2514600"/>
            <a:ext cx="7968600" cy="251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Data Preprocessing -EDA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511560" y="160020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Removeing outliers from Temperature and Windspeed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Average of values around outliers (Temperature)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IQR was used for Windspeed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600120" y="3886200"/>
            <a:ext cx="4200480" cy="2039400"/>
          </a:xfrm>
          <a:prstGeom prst="rect">
            <a:avLst/>
          </a:prstGeom>
          <a:ln w="0">
            <a:noFill/>
          </a:ln>
        </p:spPr>
      </p:pic>
      <p:pic>
        <p:nvPicPr>
          <p:cNvPr id="105" name="" descr=""/>
          <p:cNvPicPr/>
          <p:nvPr/>
        </p:nvPicPr>
        <p:blipFill>
          <a:blip r:embed="rId2"/>
          <a:stretch/>
        </p:blipFill>
        <p:spPr>
          <a:xfrm>
            <a:off x="5943600" y="3723480"/>
            <a:ext cx="4572000" cy="2220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Data preprocessing - EDA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7900920" y="2929320"/>
            <a:ext cx="2055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8"/>
          <p:cNvSpPr/>
          <p:nvPr/>
        </p:nvSpPr>
        <p:spPr>
          <a:xfrm>
            <a:off x="8366760" y="5672160"/>
            <a:ext cx="1260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" name="" descr=""/>
          <p:cNvPicPr/>
          <p:nvPr/>
        </p:nvPicPr>
        <p:blipFill>
          <a:blip r:embed="rId1"/>
          <a:stretch/>
        </p:blipFill>
        <p:spPr>
          <a:xfrm>
            <a:off x="228600" y="2057400"/>
            <a:ext cx="3685320" cy="2743200"/>
          </a:xfrm>
          <a:prstGeom prst="rect">
            <a:avLst/>
          </a:prstGeom>
          <a:ln w="0">
            <a:noFill/>
          </a:ln>
        </p:spPr>
      </p:pic>
      <p:pic>
        <p:nvPicPr>
          <p:cNvPr id="110" name="" descr=""/>
          <p:cNvPicPr/>
          <p:nvPr/>
        </p:nvPicPr>
        <p:blipFill>
          <a:blip r:embed="rId2"/>
          <a:stretch/>
        </p:blipFill>
        <p:spPr>
          <a:xfrm>
            <a:off x="3780000" y="1828800"/>
            <a:ext cx="3992400" cy="2971800"/>
          </a:xfrm>
          <a:prstGeom prst="rect">
            <a:avLst/>
          </a:prstGeom>
          <a:ln w="0">
            <a:noFill/>
          </a:ln>
        </p:spPr>
      </p:pic>
      <p:pic>
        <p:nvPicPr>
          <p:cNvPr id="111" name="" descr=""/>
          <p:cNvPicPr/>
          <p:nvPr/>
        </p:nvPicPr>
        <p:blipFill>
          <a:blip r:embed="rId3"/>
          <a:stretch/>
        </p:blipFill>
        <p:spPr>
          <a:xfrm>
            <a:off x="7578720" y="1828800"/>
            <a:ext cx="4308480" cy="3123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EDA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" name="Picture 10" descr=""/>
          <p:cNvPicPr/>
          <p:nvPr/>
        </p:nvPicPr>
        <p:blipFill>
          <a:blip r:embed="rId1"/>
          <a:stretch/>
        </p:blipFill>
        <p:spPr>
          <a:xfrm>
            <a:off x="910440" y="1817640"/>
            <a:ext cx="4879080" cy="4124520"/>
          </a:xfrm>
          <a:prstGeom prst="rect">
            <a:avLst/>
          </a:prstGeom>
          <a:ln w="0">
            <a:noFill/>
          </a:ln>
        </p:spPr>
      </p:pic>
      <p:pic>
        <p:nvPicPr>
          <p:cNvPr id="114" name="Picture 12" descr=""/>
          <p:cNvPicPr/>
          <p:nvPr/>
        </p:nvPicPr>
        <p:blipFill>
          <a:blip r:embed="rId2"/>
          <a:stretch/>
        </p:blipFill>
        <p:spPr>
          <a:xfrm>
            <a:off x="6791040" y="1817640"/>
            <a:ext cx="3847320" cy="3523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Data Engineering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143000" y="2057400"/>
            <a:ext cx="9601200" cy="392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After testing, we chose the following Features: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	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Categorical Conditions were used in another project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Datetime : in one model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Temperature (C)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Wind Speed (m/h)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Wind Direction (sin, cos)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Target: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Temperature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TSA: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Rolling statistics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Lag features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Sequences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 lnSpcReduction="20000"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Model Implementations I </a:t>
            </a:r>
            <a:br>
              <a:rPr sz="4000"/>
            </a:br>
            <a:r>
              <a:rPr b="0" lang="en-US" sz="4000" spc="-1" strike="noStrike">
                <a:solidFill>
                  <a:srgbClr val="000000"/>
                </a:solidFill>
                <a:latin typeface="Univers Condensed"/>
              </a:rPr>
              <a:t>RIDGE </a:t>
            </a: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Linear Regression &amp; LinearSVM</a:t>
            </a:r>
            <a:br>
              <a:rPr sz="4000"/>
            </a:b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Picture 3" descr=""/>
          <p:cNvPicPr/>
          <p:nvPr/>
        </p:nvPicPr>
        <p:blipFill>
          <a:blip r:embed="rId1"/>
          <a:stretch/>
        </p:blipFill>
        <p:spPr>
          <a:xfrm>
            <a:off x="700560" y="2202840"/>
            <a:ext cx="4840920" cy="2348640"/>
          </a:xfrm>
          <a:prstGeom prst="rect">
            <a:avLst/>
          </a:prstGeom>
          <a:ln w="0">
            <a:noFill/>
          </a:ln>
        </p:spPr>
      </p:pic>
      <p:pic>
        <p:nvPicPr>
          <p:cNvPr id="119" name="Picture 4" descr=""/>
          <p:cNvPicPr/>
          <p:nvPr/>
        </p:nvPicPr>
        <p:blipFill>
          <a:blip r:embed="rId2"/>
          <a:stretch/>
        </p:blipFill>
        <p:spPr>
          <a:xfrm>
            <a:off x="6430680" y="2202840"/>
            <a:ext cx="4959720" cy="242496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20" name="Table 5"/>
          <p:cNvGraphicFramePr/>
          <p:nvPr/>
        </p:nvGraphicFramePr>
        <p:xfrm>
          <a:off x="4518720" y="4636080"/>
          <a:ext cx="3053880" cy="1611360"/>
        </p:xfrm>
        <a:graphic>
          <a:graphicData uri="http://schemas.openxmlformats.org/drawingml/2006/table">
            <a:tbl>
              <a:tblPr/>
              <a:tblGrid>
                <a:gridCol w="1527120"/>
                <a:gridCol w="152712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RIDGE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LinearSVM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0.892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0.880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1.187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1.185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0.977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0.97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21" name=""/>
          <p:cNvSpPr txBox="1"/>
          <p:nvPr/>
        </p:nvSpPr>
        <p:spPr>
          <a:xfrm>
            <a:off x="685800" y="4572000"/>
            <a:ext cx="3429000" cy="137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Rolling statistics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Model Implementations II</a:t>
            </a:r>
            <a:br>
              <a:rPr sz="4000"/>
            </a:b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Dedicated Time Series Analysis (TSA)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" name="Picture 3" descr=""/>
          <p:cNvPicPr/>
          <p:nvPr/>
        </p:nvPicPr>
        <p:blipFill>
          <a:blip r:embed="rId1"/>
          <a:stretch/>
        </p:blipFill>
        <p:spPr>
          <a:xfrm>
            <a:off x="6270120" y="2051280"/>
            <a:ext cx="5120640" cy="241092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24" name="Table 4"/>
          <p:cNvGraphicFramePr/>
          <p:nvPr/>
        </p:nvGraphicFramePr>
        <p:xfrm>
          <a:off x="9053640" y="4592160"/>
          <a:ext cx="1526760" cy="1611360"/>
        </p:xfrm>
        <a:graphic>
          <a:graphicData uri="http://schemas.openxmlformats.org/drawingml/2006/table">
            <a:tbl>
              <a:tblPr/>
              <a:tblGrid>
                <a:gridCol w="152712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SARIMA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7.773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9.533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-7.487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5" name="Table 5"/>
          <p:cNvGraphicFramePr/>
          <p:nvPr/>
        </p:nvGraphicFramePr>
        <p:xfrm>
          <a:off x="7526160" y="4592160"/>
          <a:ext cx="1526760" cy="1611360"/>
        </p:xfrm>
        <a:graphic>
          <a:graphicData uri="http://schemas.openxmlformats.org/drawingml/2006/table">
            <a:tbl>
              <a:tblPr/>
              <a:tblGrid>
                <a:gridCol w="152712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b="1" lang="en-US" sz="1800" spc="-1" strike="noStrike">
                        <a:solidFill>
                          <a:schemeClr val="lt1"/>
                        </a:solidFill>
                        <a:latin typeface="Calisto MT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MAE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RMSE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R2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26" name="TextBox 6"/>
          <p:cNvSpPr/>
          <p:nvPr/>
        </p:nvSpPr>
        <p:spPr>
          <a:xfrm>
            <a:off x="1019160" y="2495520"/>
            <a:ext cx="462780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Despite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hyperparam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eter tuning,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the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SARIMAX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model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exhibited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unstable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forecasts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and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negative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explanatory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power. This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behavior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indicates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that linear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seasonal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assumption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s and fixed-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order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autoregressi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ve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structures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are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insufficient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for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capturing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the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nonlinear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and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evolving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dynamics of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hourly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temperatur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e data.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Similar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limitations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of SARIMA-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based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models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have been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reported in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high-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frequency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meteorologi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cal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forecasting </a:t>
            </a:r>
            <a:r>
              <a:rPr b="0" lang="en-US" sz="1800" spc="-1" strike="noStrike">
                <a:solidFill>
                  <a:schemeClr val="dk1"/>
                </a:solidFill>
                <a:latin typeface="Calisto MT"/>
              </a:rPr>
              <a:t>tasks.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Model Implementations III</a:t>
            </a:r>
            <a:br>
              <a:rPr sz="4000"/>
            </a:b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Ensemble &amp; Tree-Based Models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700560" y="222192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-The date and time were examined to predict the Temperature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-Hist Gradient Boosting Regressor from Scikit-Learn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-Random Forest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9" name="Picture 4" descr=""/>
          <p:cNvPicPr/>
          <p:nvPr/>
        </p:nvPicPr>
        <p:blipFill>
          <a:blip r:embed="rId1"/>
          <a:stretch/>
        </p:blipFill>
        <p:spPr>
          <a:xfrm>
            <a:off x="8458200" y="2220480"/>
            <a:ext cx="3532320" cy="2118960"/>
          </a:xfrm>
          <a:prstGeom prst="rect">
            <a:avLst/>
          </a:prstGeom>
          <a:ln w="0">
            <a:noFill/>
          </a:ln>
        </p:spPr>
      </p:pic>
      <p:pic>
        <p:nvPicPr>
          <p:cNvPr id="130" name="Picture 6" descr=""/>
          <p:cNvPicPr/>
          <p:nvPr/>
        </p:nvPicPr>
        <p:blipFill>
          <a:blip r:embed="rId2"/>
          <a:stretch/>
        </p:blipFill>
        <p:spPr>
          <a:xfrm>
            <a:off x="6858000" y="3961800"/>
            <a:ext cx="4065840" cy="243900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31" name="Table 7"/>
          <p:cNvGraphicFramePr/>
          <p:nvPr/>
        </p:nvGraphicFramePr>
        <p:xfrm>
          <a:off x="800280" y="3795840"/>
          <a:ext cx="5700960" cy="1611360"/>
        </p:xfrm>
        <a:graphic>
          <a:graphicData uri="http://schemas.openxmlformats.org/drawingml/2006/table">
            <a:tbl>
              <a:tblPr/>
              <a:tblGrid>
                <a:gridCol w="1900440"/>
                <a:gridCol w="1900440"/>
                <a:gridCol w="19004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b="1" lang="en-US" sz="1800" spc="-1" strike="noStrike">
                        <a:solidFill>
                          <a:schemeClr val="lt1"/>
                        </a:solidFill>
                        <a:latin typeface="Calisto MT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XGBOOST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RandomForest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MAE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0.65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0.675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RMSE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2.96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3.19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R2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0.863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0.84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Model Implementations IIII</a:t>
            </a:r>
            <a:br>
              <a:rPr sz="4000"/>
            </a:b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Hybrid (Regression + TSA)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700560" y="2221920"/>
            <a:ext cx="10689840" cy="373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-HistGradientBoostingRegressor from Scikit-Learn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-Lag Features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sto MT"/>
              </a:rPr>
              <a:t>-Rolling Statistics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pt-BR" sz="1200" spc="-1" strike="noStrike">
                <a:solidFill>
                  <a:schemeClr val="dk1"/>
                </a:solidFill>
                <a:latin typeface="Calisto MT"/>
              </a:rPr>
              <a:t>MAE:  0.655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pt-BR" sz="1200" spc="-1" strike="noStrike">
                <a:solidFill>
                  <a:schemeClr val="dk1"/>
                </a:solidFill>
                <a:latin typeface="Calisto MT"/>
              </a:rPr>
              <a:t>RMSE: 0.881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pt-BR" sz="1200" spc="-1" strike="noStrike">
                <a:solidFill>
                  <a:schemeClr val="dk1"/>
                </a:solidFill>
                <a:latin typeface="Calisto MT"/>
              </a:rPr>
              <a:t>R2 Score: 0.987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" name="Picture 4" descr=""/>
          <p:cNvPicPr/>
          <p:nvPr/>
        </p:nvPicPr>
        <p:blipFill>
          <a:blip r:embed="rId1"/>
          <a:stretch/>
        </p:blipFill>
        <p:spPr>
          <a:xfrm>
            <a:off x="5595480" y="3522960"/>
            <a:ext cx="6080760" cy="2026080"/>
          </a:xfrm>
          <a:prstGeom prst="rect">
            <a:avLst/>
          </a:prstGeom>
          <a:ln w="0">
            <a:noFill/>
          </a:ln>
        </p:spPr>
      </p:pic>
      <p:pic>
        <p:nvPicPr>
          <p:cNvPr id="135" name="Picture 6" descr=""/>
          <p:cNvPicPr/>
          <p:nvPr/>
        </p:nvPicPr>
        <p:blipFill>
          <a:blip r:embed="rId2"/>
          <a:stretch/>
        </p:blipFill>
        <p:spPr>
          <a:xfrm>
            <a:off x="7535880" y="1052640"/>
            <a:ext cx="4351320" cy="2175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700560" y="9144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Conclusion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37" name="Content Placeholder 7"/>
          <p:cNvGraphicFramePr/>
          <p:nvPr/>
        </p:nvGraphicFramePr>
        <p:xfrm>
          <a:off x="700200" y="1671840"/>
          <a:ext cx="10689480" cy="2015280"/>
        </p:xfrm>
        <a:graphic>
          <a:graphicData uri="http://schemas.openxmlformats.org/drawingml/2006/table">
            <a:tbl>
              <a:tblPr/>
              <a:tblGrid>
                <a:gridCol w="1527120"/>
                <a:gridCol w="1527120"/>
                <a:gridCol w="1527120"/>
                <a:gridCol w="1527120"/>
                <a:gridCol w="1527120"/>
                <a:gridCol w="1527120"/>
                <a:gridCol w="152712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b="1" lang="en-US" sz="1800" spc="-1" strike="noStrike">
                        <a:solidFill>
                          <a:schemeClr val="lt1"/>
                        </a:solidFill>
                        <a:latin typeface="Calisto MT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RIDGE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LinearSVM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RandomForest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XGBoost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SARIMA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Calisto MT"/>
                        </a:rPr>
                        <a:t>HYBRID 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MAE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0.892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0.880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0.675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0.65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7.773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10000"/>
                        </a:lnSpc>
                        <a:spcBef>
                          <a:spcPts val="1001"/>
                        </a:spcBef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0.655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RMSE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1.187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1.185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3.19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2.96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9.533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10000"/>
                        </a:lnSpc>
                        <a:spcBef>
                          <a:spcPts val="1001"/>
                        </a:spcBef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0.881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R2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0.977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0.97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0.84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0.863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-7.487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10000"/>
                        </a:lnSpc>
                        <a:spcBef>
                          <a:spcPts val="1001"/>
                        </a:spcBef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chemeClr val="dk1"/>
                          </a:solidFill>
                          <a:latin typeface="Calisto MT"/>
                        </a:rPr>
                        <a:t>0.987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138" name="Picture 8" descr=""/>
          <p:cNvPicPr/>
          <p:nvPr/>
        </p:nvPicPr>
        <p:blipFill>
          <a:blip r:embed="rId1"/>
          <a:stretch/>
        </p:blipFill>
        <p:spPr>
          <a:xfrm>
            <a:off x="3378960" y="3575880"/>
            <a:ext cx="5332680" cy="2180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740160" y="2514600"/>
            <a:ext cx="10689840" cy="130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Any Questions</a:t>
            </a:r>
            <a:br>
              <a:rPr sz="4000"/>
            </a:br>
            <a:br>
              <a:rPr sz="4000"/>
            </a:br>
            <a:r>
              <a:rPr b="0" lang="en-US" sz="4000" spc="21" strike="noStrike" cap="all">
                <a:solidFill>
                  <a:schemeClr val="dk1"/>
                </a:solidFill>
                <a:latin typeface="Univers Condensed"/>
              </a:rPr>
              <a:t>Dataset Information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 pitchFamily="0" charset="1"/>
        <a:ea typeface=""/>
        <a:cs typeface=""/>
      </a:majorFont>
      <a:minorFont>
        <a:latin typeface="Calisto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</TotalTime>
  <Application>LibreOffice/24.2.7.2$Linux_X86_64 LibreOffice_project/420$Build-2</Application>
  <AppVersion>15.0000</AppVersion>
  <Words>663</Words>
  <Paragraphs>128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2025-12-28T17:15:40Z</dcterms:created>
  <dc:creator>Arar, Hazem | Student</dc:creator>
  <dc:description/>
  <dc:language>en-US</dc:language>
  <cp:lastModifiedBy/>
  <dcterms:modified xsi:type="dcterms:W3CDTF">2026-01-06T21:12:20Z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Widescreen</vt:lpwstr>
  </property>
  <property fmtid="{D5CDD505-2E9C-101B-9397-08002B2CF9AE}" pid="4" name="Slides">
    <vt:i4>13</vt:i4>
  </property>
</Properties>
</file>